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team. Frame this as a mental-model workshop, not a product tutorial.</a:t>
            </a:r>
          </a:p>
          <a:p>
            <a:r>
              <a:t>The products will change. These concepts will remain useful.</a:t>
            </a:r>
          </a:p>
          <a:p>
            <a:r>
              <a:t>Source: workshopv2.md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LEGEND - THE FOUR ACTS</a:t>
            </a:r>
          </a:p>
          <a:p/>
          <a:p>
            <a:r>
              <a:t>These act names are an editorial teaching structure for this workshop, not a standard industry taxonomy. Each act depends on concepts introduced earlier.</a:t>
            </a:r>
          </a:p>
          <a:p/>
          <a:p>
            <a:r>
              <a:t>ACT 1 - THE MODEL (slides 5-17)</a:t>
            </a:r>
          </a:p>
          <a:p>
            <a:r>
              <a:t>What happens inside the language model: databases as a contrast, prediction, weights, vocabulary and scoring, temperature, training, quantization, tokens, inference, and generation.</a:t>
            </a:r>
          </a:p>
          <a:p/>
          <a:p>
            <a:r>
              <a:t>ACT 2 - CONTEXT + TRUTH (slides 18-24)</a:t>
            </a:r>
          </a:p>
          <a:p>
            <a:r>
              <a:t>What information the model receives at runtime, why it appears to remember, how context is lost, how current information reaches it, and why hallucinations require verification.</a:t>
            </a:r>
          </a:p>
          <a:p/>
          <a:p>
            <a:r>
              <a:t>ACT 3 - AGENTIC SYSTEMS (slides 25-35)</a:t>
            </a:r>
          </a:p>
          <a:p>
            <a:r>
              <a:t>What surrounds the model: the harness, repeated agent loop, tools, file boundaries, MCP, instruction layers, system prompts, and reusable skills.</a:t>
            </a:r>
          </a:p>
          <a:p/>
          <a:p>
            <a:r>
              <a:t>ACT 4 - TRUST + CONTROL (slides 36-40)</a:t>
            </a:r>
          </a:p>
          <a:p>
            <a:r>
              <a:t>This is an editorial umbrella for operating capable systems responsibly. It covers failure modes, prompt injection, permissions, stopping limits, verification, and human accountability. 'Trust + Control' is not a named protocol or product feature.</a:t>
            </a:r>
          </a:p>
          <a:p/>
          <a:p>
            <a:r>
              <a:t>Use this slide as your navigation legend throughout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definition broad, then narrow the scope to LLM-based chat and coding assistants.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product positively: the experience students use is the model, harness, and connected capabilities working together. Reuse these three labels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begin with a deterministic system students already understand, then contrast it with an LLM.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table has defined columns and stored values. The highlighted customerId is a unique key that points to one row. Asking for CUST-002 retrieves Kofi Mensah from that stored location.</a:t>
            </a:r>
          </a:p>
          <a:p/>
          <a:p>
            <a:r>
              <a:t>This is the deterministic-side anchor for the rest of Act 1: same stored data and same lookup produce the same stored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'fancy word guesser' if it helps, then immediately upgrade the phrase to weighted pattern matcher.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needed for this example is on the slide. The left panel is a simplified snapshot of the local Ollama model listing.</a:t>
            </a:r>
          </a:p>
          <a:p/>
          <a:p>
            <a:r>
              <a:t>27b indicates the model's approximate parameter count: roughly 27 billion learned weight values. q4_K_M identifies the quantization recipe used to store many of those values with fewer bits. 17 GB is the resulting package size on disk.</a:t>
            </a:r>
          </a:p>
          <a:p/>
          <a:p>
            <a:r>
              <a:t>The package is not a folder containing 27 billion readable facts. It is a large collection of values arranged for the model's math.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teaching example. The token IDs and percentages are invented to make the mechanism visible; they are not output copied from a real tokenizer or model.</a:t>
            </a:r>
          </a:p>
          <a:p/>
          <a:p>
            <a:r>
              <a:t>A token is a piece of text; the later token slide expands that definition. The left panel is the fixed vocabulary mapping between token IDs and text pieces. The vocabulary says what pieces are available, but it does not contain the fact that Paris is the capital of France.</a:t>
            </a:r>
          </a:p>
          <a:p/>
          <a:p>
            <a:r>
              <a:t>The right panel shows the model scoring possible next tokens for the question. The learned weights make Paris score much higher than London, Lyon, or Nice. The system chooses Paris, appends it to the conversation, and repeats the process for the next token.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directly to the previous scoring slide. Paris had the strongest score, while London and Lyon were weaker candidates.</a:t>
            </a:r>
          </a:p>
          <a:p/>
          <a:p>
            <a:r>
              <a:t>LOW TEMPERATURE stays close to the strongest candidate, so Paris is chosen almost every time. HIGH TEMPERATURE gives lower-scoring alternatives more opportunity, which can add variety but can also take the answer down a worse path.</a:t>
            </a:r>
          </a:p>
          <a:p/>
          <a:p>
            <a:r>
              <a:t>Temperature does not add knowledge or rewrite the scores. It changes how strictly the system follows those scores while choosing. The range and availability vary by model and provider.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 PRESENTER EXPLANATION</a:t>
            </a:r>
          </a:p>
          <a:p/>
          <a:p>
            <a:r>
              <a:t>This happens before the released model is used for chat. The training example includes a known next token, so the system can measure how wrong the prediction was. That error is used to make tiny adjustments to the weights.</a:t>
            </a:r>
          </a:p>
          <a:p/>
          <a:p>
            <a:r>
              <a:t>Repeat that process across an enormous training mixture and the weights gradually encode useful statistical relationships.</a:t>
            </a:r>
          </a:p>
          <a:p/>
          <a:p>
            <a:r>
              <a:t>During normal generation there is no supplied correct answer to compare against, and the weights remain fixed. The next slide puts the two loops side by side.</a:t>
            </a:r>
          </a:p>
          <a:p/>
          <a:p>
            <a:r>
              <a:t>Avoid a backpropagation or calculus detour unless someone specifically 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loops look related because both ask the model to predict tokens.</a:t>
            </a:r>
          </a:p>
          <a:p/>
          <a:p>
            <a:r>
              <a:t>TRAINING has an answer key. It knows the target token, measures the error, and updates the weights. Its output is the trained model package.</a:t>
            </a:r>
          </a:p>
          <a:p/>
          <a:p>
            <a:r>
              <a:t>GENERATION has no answer key. It uses the fixed weights to score possible next tokens, chooses one, appends it, and repeats. Its output is the response the user sees.</a:t>
            </a:r>
          </a:p>
          <a:p/>
          <a:p>
            <a:r>
              <a:t>Analogy: the architecture is closer to the engine design or program structure. The weights are billions of learned settings inside that engine. A distributed model package bundles the architecture information, tokenizer, and learned weights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overlap in data and techniques, but no two labs use or publish exactly the same mixture.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Quantization rounds many weights to fewer digits. Total RAM also includes context/KV cache and runtime buffers.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Tokens may be words, word pieces, punctuation, bytes, or special markers. The exact split depends on the tokenizer.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inference: using fixed trained weights. The prompt and surrounding context are the changing inputs. Connect SCORE and CHOOSE back to the earlier vocabulary example, then use the next slide to summarize the repeated generation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capital-of-France example. Paris wins, feeds back in, then punctuation and an end condition follow.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how tokens are generated to what information is available while generating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base model call has no automatic memory of independent earlier calls. The product must supply relevant state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Bob example makes compression concrete. Small personal details can disappear while project decisions survive.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window is an upper bound. The harness budget is the real session limit. The slide intentionally keeps the concept qualitative; optional measured local profiles can be added later as their own self-contained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cannot independently fetch current information without an outside input path. A user can paste it in, or a tool can retrieve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is not required. Fluent uncertainty can still be unsupported, and confident language can still be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Generated reasoning and agreement between two models are clues, not proof.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bare model predicts text. Agentic systems wrap that prediction loop in software that can act.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include Copilot CLI, Open WebUI, and other coding-agent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the configured goal-seeking system. The repeated runtime loop is a common agent pattern.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request and response. The model does not execute the search itself.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self-contained representative inventory. Exact tools vary by version, permissions, enabled features, and MCP servers, so do not present it as a permanent exhaustive list.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corrects the common idea that the model somehow has the local repository inside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N x M custom integrations versus reusable hosts and servers as an idealized diagram, not a literal guarantee.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separates the AI host/client connection from servers that expose tools, resources, and prompts.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Providers expose different role names and hierarchies. The stable idea is layered authority, not one flat competition for attention.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system prompt changes the frame without retraining the model. Some products expose it; others keep parts hidden.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can package procedural guidance plus optional scripts and resources. It can be loaded automatically or explicitly.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4 - TRUST + CONTROL</a:t>
            </a:r>
          </a:p>
          <a:p>
            <a:r>
              <a:t>This title is the workshop's editorial grouping, not an industry term. The act asks: now that the system can act, what makes it safe enough to trust with real work?</a:t>
            </a:r>
          </a:p>
          <a:p>
            <a:r>
              <a:t>The answer is not blind trust. It is control through permissions, stopping rules, validation, verification, and accountable humans.</a:t>
            </a:r>
          </a:p>
          <a:p>
            <a:r>
              <a:t>Failure modes are diagnostic patterns, not reasons to panic.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which earlier concept explains each failure. This turns the entire workshop into a troubleshooting map.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can still mistake data for an order. Defense requires permissions, isolation, validation, and approval - not wording alone.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durable habits for school, robotics, software work, and future AI products.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model-versus-product thesis. The user experience is the complete system, not the weights alone.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Useful prompts: What surprised you? What would you trust today? What tool would you give an agent? What would you never let it do without approval?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347472"/>
            <a:ext cx="2011680" cy="10972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400" b="1">
                <a:solidFill>
                  <a:srgbClr val="2DE2E6"/>
                </a:solidFill>
                <a:latin typeface="Bahnschrift SemiBold"/>
              </a:rPr>
              <a:t>AI</a:t>
            </a:r>
          </a:p>
        </p:txBody>
      </p:sp>
      <p:sp>
        <p:nvSpPr>
          <p:cNvPr id="7" name="TextBox 6"/>
          <p:cNvSpPr txBox="1"/>
          <p:nvPr/>
        </p:nvSpPr>
        <p:spPr>
          <a:xfrm>
            <a:off x="2423160" y="640080"/>
            <a:ext cx="4846320" cy="6400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400" b="1">
                <a:solidFill>
                  <a:srgbClr val="F7FAFF"/>
                </a:solidFill>
                <a:latin typeface="Bahnschrift SemiBold"/>
              </a:rPr>
              <a:t>FOUNDATIONS</a:t>
            </a:r>
          </a:p>
        </p:txBody>
      </p:sp>
      <p:sp>
        <p:nvSpPr>
          <p:cNvPr id="8" name="TextBox 7"/>
          <p:cNvSpPr txBox="1"/>
          <p:nvPr/>
        </p:nvSpPr>
        <p:spPr>
          <a:xfrm>
            <a:off x="658368" y="1965960"/>
            <a:ext cx="10789920" cy="1371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800" b="1">
                <a:solidFill>
                  <a:srgbClr val="F7FAFF"/>
                </a:solidFill>
                <a:latin typeface="Bahnschrift SemiBold"/>
              </a:rPr>
              <a:t>How modern AI systems actually work</a:t>
            </a:r>
          </a:p>
        </p:txBody>
      </p:sp>
      <p:sp>
        <p:nvSpPr>
          <p:cNvPr id="9" name="TextBox 8"/>
          <p:cNvSpPr txBox="1"/>
          <p:nvPr/>
        </p:nvSpPr>
        <p:spPr>
          <a:xfrm>
            <a:off x="704088" y="3520440"/>
            <a:ext cx="9875520" cy="6400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200" b="0">
                <a:solidFill>
                  <a:srgbClr val="D7E2F2"/>
                </a:solidFill>
                <a:latin typeface="Aptos"/>
              </a:rPr>
              <a:t>Models, context, tools, agents, and the failure modes between them</a:t>
            </a:r>
          </a:p>
        </p:txBody>
      </p:sp>
      <p:sp>
        <p:nvSpPr>
          <p:cNvPr id="10" name="Rounded Rectangle 9"/>
          <p:cNvSpPr/>
          <p:nvPr/>
        </p:nvSpPr>
        <p:spPr>
          <a:xfrm>
            <a:off x="8275320" y="3977639"/>
            <a:ext cx="2377440" cy="475488"/>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75320" y="3977639"/>
            <a:ext cx="73152" cy="47548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4069079"/>
            <a:ext cx="18288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1">
                <a:solidFill>
                  <a:srgbClr val="2DE2E6"/>
                </a:solidFill>
                <a:latin typeface="Aptos"/>
              </a:rPr>
              <a:t>MODEL</a:t>
            </a:r>
          </a:p>
        </p:txBody>
      </p:sp>
      <p:sp>
        <p:nvSpPr>
          <p:cNvPr id="13" name="Rounded Rectangle 12"/>
          <p:cNvSpPr/>
          <p:nvPr/>
        </p:nvSpPr>
        <p:spPr>
          <a:xfrm>
            <a:off x="8595360" y="4636007"/>
            <a:ext cx="2377440" cy="47548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95360" y="4636007"/>
            <a:ext cx="73152" cy="475488"/>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4727447"/>
            <a:ext cx="18288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1">
                <a:solidFill>
                  <a:srgbClr val="A778FF"/>
                </a:solidFill>
                <a:latin typeface="Aptos"/>
              </a:rPr>
              <a:t>CONTEXT</a:t>
            </a:r>
          </a:p>
        </p:txBody>
      </p:sp>
      <p:sp>
        <p:nvSpPr>
          <p:cNvPr id="16" name="Rounded Rectangle 15"/>
          <p:cNvSpPr/>
          <p:nvPr/>
        </p:nvSpPr>
        <p:spPr>
          <a:xfrm>
            <a:off x="8915400" y="5294375"/>
            <a:ext cx="2377440" cy="47548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15400" y="5294375"/>
            <a:ext cx="73152" cy="475488"/>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19" y="5385815"/>
            <a:ext cx="18288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1">
                <a:solidFill>
                  <a:srgbClr val="FF6776"/>
                </a:solidFill>
                <a:latin typeface="Aptos"/>
              </a:rPr>
              <a:t>TOOLS</a:t>
            </a:r>
          </a:p>
        </p:txBody>
      </p:sp>
      <p:sp>
        <p:nvSpPr>
          <p:cNvPr id="19" name="TextBox 18"/>
          <p:cNvSpPr txBox="1"/>
          <p:nvPr/>
        </p:nvSpPr>
        <p:spPr>
          <a:xfrm>
            <a:off x="704088" y="6144768"/>
            <a:ext cx="45720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8FA4C2"/>
                </a:solidFill>
                <a:latin typeface="Aptos"/>
              </a:rPr>
              <a:t>For FIRST Robotics students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THE MAP</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Four acts. One connected system.</a:t>
            </a:r>
          </a:p>
        </p:txBody>
      </p:sp>
      <p:sp>
        <p:nvSpPr>
          <p:cNvPr id="10" name="Rounded Rectangle 9"/>
          <p:cNvSpPr/>
          <p:nvPr/>
        </p:nvSpPr>
        <p:spPr>
          <a:xfrm>
            <a:off x="585216" y="2331720"/>
            <a:ext cx="2596896"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THE MODEL</a:t>
            </a:r>
          </a:p>
        </p:txBody>
      </p:sp>
      <p:sp>
        <p:nvSpPr>
          <p:cNvPr id="15" name="TextBox 14"/>
          <p:cNvSpPr txBox="1"/>
          <p:nvPr/>
        </p:nvSpPr>
        <p:spPr>
          <a:xfrm>
            <a:off x="877824"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Weights, training, tokens, and generation.</a:t>
            </a:r>
          </a:p>
        </p:txBody>
      </p:sp>
      <p:cxnSp>
        <p:nvCxnSpPr>
          <p:cNvPr id="16" name="Connector 15"/>
          <p:cNvCxnSpPr/>
          <p:nvPr/>
        </p:nvCxnSpPr>
        <p:spPr>
          <a:xfrm>
            <a:off x="3200400"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92424" y="2331720"/>
            <a:ext cx="2596896"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2424"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48456"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8456"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4261104"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CONTEXT</a:t>
            </a:r>
          </a:p>
        </p:txBody>
      </p:sp>
      <p:sp>
        <p:nvSpPr>
          <p:cNvPr id="22" name="TextBox 21"/>
          <p:cNvSpPr txBox="1"/>
          <p:nvPr/>
        </p:nvSpPr>
        <p:spPr>
          <a:xfrm>
            <a:off x="3685032"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Working memory, current information, and hallucinations.</a:t>
            </a:r>
          </a:p>
        </p:txBody>
      </p:sp>
      <p:cxnSp>
        <p:nvCxnSpPr>
          <p:cNvPr id="23" name="Connector 22"/>
          <p:cNvCxnSpPr/>
          <p:nvPr/>
        </p:nvCxnSpPr>
        <p:spPr>
          <a:xfrm>
            <a:off x="600760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99632" y="2331720"/>
            <a:ext cx="2596896"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55664"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5566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7068312"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AGENTIC</a:t>
            </a:r>
          </a:p>
        </p:txBody>
      </p:sp>
      <p:sp>
        <p:nvSpPr>
          <p:cNvPr id="29" name="TextBox 28"/>
          <p:cNvSpPr txBox="1"/>
          <p:nvPr/>
        </p:nvSpPr>
        <p:spPr>
          <a:xfrm>
            <a:off x="6492240"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Harnesses, tools, MCP, instructions, and skills.</a:t>
            </a:r>
          </a:p>
        </p:txBody>
      </p:sp>
      <p:cxnSp>
        <p:nvCxnSpPr>
          <p:cNvPr id="30" name="Connector 29"/>
          <p:cNvCxnSpPr/>
          <p:nvPr/>
        </p:nvCxnSpPr>
        <p:spPr>
          <a:xfrm>
            <a:off x="8814816"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006840" y="2331720"/>
            <a:ext cx="2596896"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06840"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62872"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62872"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9875520"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TRUST + CONTROL</a:t>
            </a:r>
          </a:p>
        </p:txBody>
      </p:sp>
      <p:sp>
        <p:nvSpPr>
          <p:cNvPr id="36" name="TextBox 35"/>
          <p:cNvSpPr txBox="1"/>
          <p:nvPr/>
        </p:nvSpPr>
        <p:spPr>
          <a:xfrm>
            <a:off x="9299448"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Failure modes, limits, verification, and human responsibility.</a:t>
            </a:r>
          </a:p>
        </p:txBody>
      </p:sp>
      <p:sp>
        <p:nvSpPr>
          <p:cNvPr id="37" name="Rounded Rectangle 36"/>
          <p:cNvSpPr/>
          <p:nvPr/>
        </p:nvSpPr>
        <p:spPr>
          <a:xfrm>
            <a:off x="1051560" y="5230368"/>
            <a:ext cx="10104120" cy="566928"/>
          </a:xfrm>
          <a:prstGeom prst="roundRect">
            <a:avLst/>
          </a:prstGeom>
          <a:solidFill>
            <a:srgbClr val="0E1A33"/>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The product you experience is the complete system - not the model alone.</a:t>
            </a:r>
          </a:p>
        </p:txBody>
      </p:sp>
      <p:sp>
        <p:nvSpPr>
          <p:cNvPr id="39" name="TextBox 38"/>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0" name="TextBox 39"/>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WHAT IS AI?</a:t>
            </a:r>
          </a:p>
        </p:txBody>
      </p:sp>
      <p:sp>
        <p:nvSpPr>
          <p:cNvPr id="9" name="TextBox 8"/>
          <p:cNvSpPr txBox="1"/>
          <p:nvPr/>
        </p:nvSpPr>
        <p:spPr>
          <a:xfrm>
            <a:off x="658368" y="1188720"/>
            <a:ext cx="10789920" cy="1965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F7FAFF"/>
                </a:solidFill>
                <a:latin typeface="Bahnschrift SemiBold"/>
              </a:rPr>
              <a:t>Software that uses learned patterns to produce predictions, recommendations, decisions, or content.</a:t>
            </a:r>
          </a:p>
        </p:txBody>
      </p:sp>
      <p:sp>
        <p:nvSpPr>
          <p:cNvPr id="10" name="Rounded Rectangle 9"/>
          <p:cNvSpPr/>
          <p:nvPr/>
        </p:nvSpPr>
        <p:spPr>
          <a:xfrm>
            <a:off x="658368" y="3858768"/>
            <a:ext cx="10881360" cy="141732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10241280" cy="82296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000" b="0">
                <a:solidFill>
                  <a:srgbClr val="D7E2F2"/>
                </a:solidFill>
                <a:latin typeface="Aptos"/>
              </a:rPr>
              <a:t>This workshop focuses on large language models and the products built around them.</a:t>
            </a:r>
          </a:p>
        </p:txBody>
      </p:sp>
      <p:sp>
        <p:nvSpPr>
          <p:cNvPr id="12" name="TextBox 11"/>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13" name="TextBox 12"/>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4</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WHAT IS THE PRODUCT?</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The product is the whole system</a:t>
            </a:r>
          </a:p>
        </p:txBody>
      </p:sp>
      <p:sp>
        <p:nvSpPr>
          <p:cNvPr id="10" name="Rounded Rectangle 9"/>
          <p:cNvSpPr/>
          <p:nvPr/>
        </p:nvSpPr>
        <p:spPr>
          <a:xfrm>
            <a:off x="566928" y="2148840"/>
            <a:ext cx="3493008" cy="3401568"/>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48840"/>
            <a:ext cx="73152" cy="34015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240487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35607"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MODEL</a:t>
            </a:r>
          </a:p>
        </p:txBody>
      </p:sp>
      <p:sp>
        <p:nvSpPr>
          <p:cNvPr id="15" name="TextBox 14"/>
          <p:cNvSpPr txBox="1"/>
          <p:nvPr/>
        </p:nvSpPr>
        <p:spPr>
          <a:xfrm>
            <a:off x="859536"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The pattern engine. Learned weights turn context into token scores.</a:t>
            </a:r>
          </a:p>
        </p:txBody>
      </p:sp>
      <p:sp>
        <p:nvSpPr>
          <p:cNvPr id="16" name="Rounded Rectangle 15"/>
          <p:cNvSpPr/>
          <p:nvPr/>
        </p:nvSpPr>
        <p:spPr>
          <a:xfrm>
            <a:off x="4389120" y="2148840"/>
            <a:ext cx="3493008" cy="340156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148840"/>
            <a:ext cx="73152" cy="3401568"/>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45152" y="240487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0" name="TextBox 19"/>
          <p:cNvSpPr txBox="1"/>
          <p:nvPr/>
        </p:nvSpPr>
        <p:spPr>
          <a:xfrm>
            <a:off x="5257800"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HARNESS</a:t>
            </a:r>
          </a:p>
        </p:txBody>
      </p:sp>
      <p:sp>
        <p:nvSpPr>
          <p:cNvPr id="21" name="TextBox 20"/>
          <p:cNvSpPr txBox="1"/>
          <p:nvPr/>
        </p:nvSpPr>
        <p:spPr>
          <a:xfrm>
            <a:off x="4681728"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The application loop. It assembles context, applies rules, and decides what runs.</a:t>
            </a:r>
          </a:p>
        </p:txBody>
      </p:sp>
      <p:sp>
        <p:nvSpPr>
          <p:cNvPr id="22" name="Rounded Rectangle 21"/>
          <p:cNvSpPr/>
          <p:nvPr/>
        </p:nvSpPr>
        <p:spPr>
          <a:xfrm>
            <a:off x="8211311" y="2148840"/>
            <a:ext cx="3493008" cy="340156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1" y="2148840"/>
            <a:ext cx="73152" cy="3401568"/>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67343" y="240487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67343"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6" name="TextBox 25"/>
          <p:cNvSpPr txBox="1"/>
          <p:nvPr/>
        </p:nvSpPr>
        <p:spPr>
          <a:xfrm>
            <a:off x="9079991"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TOOLS + SERVICES</a:t>
            </a:r>
          </a:p>
        </p:txBody>
      </p:sp>
      <p:sp>
        <p:nvSpPr>
          <p:cNvPr id="27" name="TextBox 26"/>
          <p:cNvSpPr txBox="1"/>
          <p:nvPr/>
        </p:nvSpPr>
        <p:spPr>
          <a:xfrm>
            <a:off x="8503919"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The outside capabilities: files, search, browsers, APIs, databases, and more.</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594360"/>
            <a:ext cx="201168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2DE2E6"/>
                </a:solidFill>
                <a:latin typeface="Aptos"/>
              </a:rPr>
              <a:t>ACT 1</a:t>
            </a:r>
          </a:p>
        </p:txBody>
      </p:sp>
      <p:sp>
        <p:nvSpPr>
          <p:cNvPr id="7" name="TextBox 6"/>
          <p:cNvSpPr txBox="1"/>
          <p:nvPr/>
        </p:nvSpPr>
        <p:spPr>
          <a:xfrm>
            <a:off x="640080" y="1234440"/>
            <a:ext cx="10789920" cy="11887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400" b="1">
                <a:solidFill>
                  <a:srgbClr val="F7FAFF"/>
                </a:solidFill>
                <a:latin typeface="Bahnschrift SemiBold"/>
              </a:rPr>
              <a:t>Inside the model</a:t>
            </a:r>
          </a:p>
        </p:txBody>
      </p:sp>
      <p:sp>
        <p:nvSpPr>
          <p:cNvPr id="8" name="TextBox 7"/>
          <p:cNvSpPr txBox="1"/>
          <p:nvPr/>
        </p:nvSpPr>
        <p:spPr>
          <a:xfrm>
            <a:off x="676656" y="2697480"/>
            <a:ext cx="9966960" cy="7315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300" b="0">
                <a:solidFill>
                  <a:srgbClr val="D7E2F2"/>
                </a:solidFill>
                <a:latin typeface="Aptos"/>
              </a:rPr>
              <a:t>How learned numbers become one predicted token at a time</a:t>
            </a:r>
          </a:p>
        </p:txBody>
      </p:sp>
      <p:sp>
        <p:nvSpPr>
          <p:cNvPr id="9" name="TextBox 8"/>
          <p:cNvSpPr txBox="1"/>
          <p:nvPr/>
        </p:nvSpPr>
        <p:spPr>
          <a:xfrm>
            <a:off x="8641080" y="3794760"/>
            <a:ext cx="2514600" cy="1508760"/>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200" b="1">
                <a:solidFill>
                  <a:srgbClr val="2DE2E6"/>
                </a:solidFill>
                <a:latin typeface="Bahnschrift SemiBold"/>
              </a:rPr>
              <a:t>01</a:t>
            </a:r>
          </a:p>
        </p:txBody>
      </p:sp>
      <p:sp>
        <p:nvSpPr>
          <p:cNvPr id="10" name="Rectangle 9"/>
          <p:cNvSpPr/>
          <p:nvPr/>
        </p:nvSpPr>
        <p:spPr>
          <a:xfrm>
            <a:off x="8183879" y="5376672"/>
            <a:ext cx="2651760" cy="54864"/>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5559552"/>
            <a:ext cx="2011680" cy="54864"/>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3879" y="5742432"/>
            <a:ext cx="1371600" cy="54864"/>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6</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DATABASE</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A database stores values you can point to</a:t>
            </a:r>
          </a:p>
        </p:txBody>
      </p:sp>
      <p:sp>
        <p:nvSpPr>
          <p:cNvPr id="10" name="Rectangle 9"/>
          <p:cNvSpPr/>
          <p:nvPr/>
        </p:nvSpPr>
        <p:spPr>
          <a:xfrm>
            <a:off x="685800" y="2011680"/>
            <a:ext cx="1325880" cy="6583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11680"/>
            <a:ext cx="132588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081022"/>
                </a:solidFill>
                <a:latin typeface="Cascadia Mono"/>
              </a:rPr>
              <a:t>customerId</a:t>
            </a:r>
          </a:p>
        </p:txBody>
      </p:sp>
      <p:sp>
        <p:nvSpPr>
          <p:cNvPr id="12" name="Rectangle 11"/>
          <p:cNvSpPr/>
          <p:nvPr/>
        </p:nvSpPr>
        <p:spPr>
          <a:xfrm>
            <a:off x="2048256" y="2011680"/>
            <a:ext cx="1920240" cy="6583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48256" y="2011680"/>
            <a:ext cx="19202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081022"/>
                </a:solidFill>
                <a:latin typeface="Cascadia Mono"/>
              </a:rPr>
              <a:t>name</a:t>
            </a:r>
          </a:p>
        </p:txBody>
      </p:sp>
      <p:sp>
        <p:nvSpPr>
          <p:cNvPr id="14" name="Rectangle 13"/>
          <p:cNvSpPr/>
          <p:nvPr/>
        </p:nvSpPr>
        <p:spPr>
          <a:xfrm>
            <a:off x="4005072" y="2011680"/>
            <a:ext cx="685800" cy="6583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05072" y="2011680"/>
            <a:ext cx="6858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081022"/>
                </a:solidFill>
                <a:latin typeface="Cascadia Mono"/>
              </a:rPr>
              <a:t>age</a:t>
            </a:r>
          </a:p>
        </p:txBody>
      </p:sp>
      <p:sp>
        <p:nvSpPr>
          <p:cNvPr id="16" name="Rectangle 15"/>
          <p:cNvSpPr/>
          <p:nvPr/>
        </p:nvSpPr>
        <p:spPr>
          <a:xfrm>
            <a:off x="4727448" y="2011680"/>
            <a:ext cx="1691640" cy="6583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27448" y="2011680"/>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081022"/>
                </a:solidFill>
                <a:latin typeface="Cascadia Mono"/>
              </a:rPr>
              <a:t>location</a:t>
            </a:r>
          </a:p>
        </p:txBody>
      </p:sp>
      <p:sp>
        <p:nvSpPr>
          <p:cNvPr id="18" name="Rectangle 17"/>
          <p:cNvSpPr/>
          <p:nvPr/>
        </p:nvSpPr>
        <p:spPr>
          <a:xfrm>
            <a:off x="6455664" y="2011680"/>
            <a:ext cx="1371600" cy="6583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2011680"/>
            <a:ext cx="13716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081022"/>
                </a:solidFill>
                <a:latin typeface="Cascadia Mono"/>
              </a:rPr>
              <a:t>country</a:t>
            </a:r>
          </a:p>
        </p:txBody>
      </p:sp>
      <p:sp>
        <p:nvSpPr>
          <p:cNvPr id="20" name="Rectangle 19"/>
          <p:cNvSpPr/>
          <p:nvPr/>
        </p:nvSpPr>
        <p:spPr>
          <a:xfrm>
            <a:off x="685800" y="2715768"/>
            <a:ext cx="132588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715768"/>
            <a:ext cx="132588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CUST-001</a:t>
            </a:r>
          </a:p>
        </p:txBody>
      </p:sp>
      <p:sp>
        <p:nvSpPr>
          <p:cNvPr id="22" name="Rectangle 21"/>
          <p:cNvSpPr/>
          <p:nvPr/>
        </p:nvSpPr>
        <p:spPr>
          <a:xfrm>
            <a:off x="2048256" y="2715768"/>
            <a:ext cx="192024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48256" y="2715768"/>
            <a:ext cx="19202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Ava Chen</a:t>
            </a:r>
          </a:p>
        </p:txBody>
      </p:sp>
      <p:sp>
        <p:nvSpPr>
          <p:cNvPr id="24" name="Rectangle 23"/>
          <p:cNvSpPr/>
          <p:nvPr/>
        </p:nvSpPr>
        <p:spPr>
          <a:xfrm>
            <a:off x="4005072" y="2715768"/>
            <a:ext cx="68580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05072" y="2715768"/>
            <a:ext cx="6858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17</a:t>
            </a:r>
          </a:p>
        </p:txBody>
      </p:sp>
      <p:sp>
        <p:nvSpPr>
          <p:cNvPr id="26" name="Rectangle 25"/>
          <p:cNvSpPr/>
          <p:nvPr/>
        </p:nvSpPr>
        <p:spPr>
          <a:xfrm>
            <a:off x="4727448" y="2715768"/>
            <a:ext cx="169164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27448" y="2715768"/>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Seattle</a:t>
            </a:r>
          </a:p>
        </p:txBody>
      </p:sp>
      <p:sp>
        <p:nvSpPr>
          <p:cNvPr id="28" name="Rectangle 27"/>
          <p:cNvSpPr/>
          <p:nvPr/>
        </p:nvSpPr>
        <p:spPr>
          <a:xfrm>
            <a:off x="6455664" y="2715768"/>
            <a:ext cx="137160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2715768"/>
            <a:ext cx="13716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USA</a:t>
            </a:r>
          </a:p>
        </p:txBody>
      </p:sp>
      <p:sp>
        <p:nvSpPr>
          <p:cNvPr id="30" name="Rectangle 29"/>
          <p:cNvSpPr/>
          <p:nvPr/>
        </p:nvSpPr>
        <p:spPr>
          <a:xfrm>
            <a:off x="685800" y="3429000"/>
            <a:ext cx="1325880" cy="658368"/>
          </a:xfrm>
          <a:prstGeom prst="rect">
            <a:avLst/>
          </a:prstGeom>
          <a:solidFill>
            <a:srgbClr val="1B3155"/>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429000"/>
            <a:ext cx="132588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F7FAFF"/>
                </a:solidFill>
                <a:latin typeface="Cascadia Mono"/>
              </a:rPr>
              <a:t>CUST-002</a:t>
            </a:r>
          </a:p>
        </p:txBody>
      </p:sp>
      <p:sp>
        <p:nvSpPr>
          <p:cNvPr id="32" name="Rectangle 31"/>
          <p:cNvSpPr/>
          <p:nvPr/>
        </p:nvSpPr>
        <p:spPr>
          <a:xfrm>
            <a:off x="2048256" y="3429000"/>
            <a:ext cx="1920240" cy="658368"/>
          </a:xfrm>
          <a:prstGeom prst="rect">
            <a:avLst/>
          </a:prstGeom>
          <a:solidFill>
            <a:srgbClr val="1B3155"/>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48256" y="3429000"/>
            <a:ext cx="19202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F7FAFF"/>
                </a:solidFill>
                <a:latin typeface="Cascadia Mono"/>
              </a:rPr>
              <a:t>Kofi Mensah</a:t>
            </a:r>
          </a:p>
        </p:txBody>
      </p:sp>
      <p:sp>
        <p:nvSpPr>
          <p:cNvPr id="34" name="Rectangle 33"/>
          <p:cNvSpPr/>
          <p:nvPr/>
        </p:nvSpPr>
        <p:spPr>
          <a:xfrm>
            <a:off x="4005072" y="3429000"/>
            <a:ext cx="685800" cy="658368"/>
          </a:xfrm>
          <a:prstGeom prst="rect">
            <a:avLst/>
          </a:prstGeom>
          <a:solidFill>
            <a:srgbClr val="1B3155"/>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05072" y="3429000"/>
            <a:ext cx="6858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F7FAFF"/>
                </a:solidFill>
                <a:latin typeface="Cascadia Mono"/>
              </a:rPr>
              <a:t>17</a:t>
            </a:r>
          </a:p>
        </p:txBody>
      </p:sp>
      <p:sp>
        <p:nvSpPr>
          <p:cNvPr id="36" name="Rectangle 35"/>
          <p:cNvSpPr/>
          <p:nvPr/>
        </p:nvSpPr>
        <p:spPr>
          <a:xfrm>
            <a:off x="4727448" y="3429000"/>
            <a:ext cx="1691640" cy="658368"/>
          </a:xfrm>
          <a:prstGeom prst="rect">
            <a:avLst/>
          </a:prstGeom>
          <a:solidFill>
            <a:srgbClr val="1B3155"/>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27448" y="3429000"/>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F7FAFF"/>
                </a:solidFill>
                <a:latin typeface="Cascadia Mono"/>
              </a:rPr>
              <a:t>Accra</a:t>
            </a:r>
          </a:p>
        </p:txBody>
      </p:sp>
      <p:sp>
        <p:nvSpPr>
          <p:cNvPr id="38" name="Rectangle 37"/>
          <p:cNvSpPr/>
          <p:nvPr/>
        </p:nvSpPr>
        <p:spPr>
          <a:xfrm>
            <a:off x="6455664" y="3429000"/>
            <a:ext cx="1371600" cy="658368"/>
          </a:xfrm>
          <a:prstGeom prst="rect">
            <a:avLst/>
          </a:prstGeom>
          <a:solidFill>
            <a:srgbClr val="1B3155"/>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55664" y="3429000"/>
            <a:ext cx="13716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1">
                <a:solidFill>
                  <a:srgbClr val="F7FAFF"/>
                </a:solidFill>
                <a:latin typeface="Cascadia Mono"/>
              </a:rPr>
              <a:t>Ghana</a:t>
            </a:r>
          </a:p>
        </p:txBody>
      </p:sp>
      <p:sp>
        <p:nvSpPr>
          <p:cNvPr id="40" name="Rectangle 39"/>
          <p:cNvSpPr/>
          <p:nvPr/>
        </p:nvSpPr>
        <p:spPr>
          <a:xfrm>
            <a:off x="685800" y="4142232"/>
            <a:ext cx="132588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4142232"/>
            <a:ext cx="132588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CUST-003</a:t>
            </a:r>
          </a:p>
        </p:txBody>
      </p:sp>
      <p:sp>
        <p:nvSpPr>
          <p:cNvPr id="42" name="Rectangle 41"/>
          <p:cNvSpPr/>
          <p:nvPr/>
        </p:nvSpPr>
        <p:spPr>
          <a:xfrm>
            <a:off x="2048256" y="4142232"/>
            <a:ext cx="192024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48256" y="4142232"/>
            <a:ext cx="19202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Sofia Rossi</a:t>
            </a:r>
          </a:p>
        </p:txBody>
      </p:sp>
      <p:sp>
        <p:nvSpPr>
          <p:cNvPr id="44" name="Rectangle 43"/>
          <p:cNvSpPr/>
          <p:nvPr/>
        </p:nvSpPr>
        <p:spPr>
          <a:xfrm>
            <a:off x="4005072" y="4142232"/>
            <a:ext cx="68580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05072" y="4142232"/>
            <a:ext cx="6858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16</a:t>
            </a:r>
          </a:p>
        </p:txBody>
      </p:sp>
      <p:sp>
        <p:nvSpPr>
          <p:cNvPr id="46" name="Rectangle 45"/>
          <p:cNvSpPr/>
          <p:nvPr/>
        </p:nvSpPr>
        <p:spPr>
          <a:xfrm>
            <a:off x="4727448" y="4142232"/>
            <a:ext cx="169164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27448" y="4142232"/>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Milan</a:t>
            </a:r>
          </a:p>
        </p:txBody>
      </p:sp>
      <p:sp>
        <p:nvSpPr>
          <p:cNvPr id="48" name="Rectangle 47"/>
          <p:cNvSpPr/>
          <p:nvPr/>
        </p:nvSpPr>
        <p:spPr>
          <a:xfrm>
            <a:off x="6455664" y="4142232"/>
            <a:ext cx="1371600" cy="658368"/>
          </a:xfrm>
          <a:prstGeom prst="rect">
            <a:avLst/>
          </a:prstGeom>
          <a:solidFill>
            <a:srgbClr val="142442"/>
          </a:solidFill>
          <a:ln w="19050">
            <a:solidFill>
              <a:srgbClr val="8FA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55664" y="4142232"/>
            <a:ext cx="137160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300" b="0">
                <a:solidFill>
                  <a:srgbClr val="F7FAFF"/>
                </a:solidFill>
                <a:latin typeface="Cascadia Mono"/>
              </a:rPr>
              <a:t>Italy</a:t>
            </a:r>
          </a:p>
        </p:txBody>
      </p:sp>
      <p:sp>
        <p:nvSpPr>
          <p:cNvPr id="50" name="Rounded Rectangle 49"/>
          <p:cNvSpPr/>
          <p:nvPr/>
        </p:nvSpPr>
        <p:spPr>
          <a:xfrm>
            <a:off x="8092440" y="2011680"/>
            <a:ext cx="3337560" cy="2798064"/>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94192" y="2304288"/>
            <a:ext cx="11430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C857"/>
                </a:solidFill>
                <a:latin typeface="Aptos"/>
              </a:rPr>
              <a:t>LOOKUP</a:t>
            </a:r>
          </a:p>
        </p:txBody>
      </p:sp>
      <p:sp>
        <p:nvSpPr>
          <p:cNvPr id="52" name="TextBox 51"/>
          <p:cNvSpPr txBox="1"/>
          <p:nvPr/>
        </p:nvSpPr>
        <p:spPr>
          <a:xfrm>
            <a:off x="8394192" y="2743200"/>
            <a:ext cx="2724912" cy="12344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2100" b="1">
                <a:solidFill>
                  <a:srgbClr val="F7FAFF"/>
                </a:solidFill>
                <a:latin typeface="Cascadia Mono"/>
              </a:rPr>
              <a:t>customerId
=
CUST-002</a:t>
            </a:r>
          </a:p>
        </p:txBody>
      </p:sp>
      <p:sp>
        <p:nvSpPr>
          <p:cNvPr id="53" name="TextBox 52"/>
          <p:cNvSpPr txBox="1"/>
          <p:nvPr/>
        </p:nvSpPr>
        <p:spPr>
          <a:xfrm>
            <a:off x="8394192" y="4160520"/>
            <a:ext cx="2724912"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0">
                <a:solidFill>
                  <a:srgbClr val="D7E2F2"/>
                </a:solidFill>
                <a:latin typeface="Aptos"/>
              </a:rPr>
              <a:t>returns the stored row</a:t>
            </a:r>
          </a:p>
        </p:txBody>
      </p:sp>
      <p:sp>
        <p:nvSpPr>
          <p:cNvPr id="54" name="Rounded Rectangle 53"/>
          <p:cNvSpPr/>
          <p:nvPr/>
        </p:nvSpPr>
        <p:spPr>
          <a:xfrm>
            <a:off x="1417320" y="5257800"/>
            <a:ext cx="9326880" cy="566928"/>
          </a:xfrm>
          <a:prstGeom prst="roundRect">
            <a:avLst/>
          </a:prstGeom>
          <a:solidFill>
            <a:srgbClr val="0E1A33"/>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45920" y="5394960"/>
            <a:ext cx="886968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The value is retrieved from a defined location - not predicted.</a:t>
            </a:r>
          </a:p>
        </p:txBody>
      </p:sp>
      <p:sp>
        <p:nvSpPr>
          <p:cNvPr id="56" name="TextBox 5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57" name="TextBox 5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7</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THE SENTENCE TO REMEMBER</a:t>
            </a:r>
          </a:p>
        </p:txBody>
      </p:sp>
      <p:sp>
        <p:nvSpPr>
          <p:cNvPr id="9" name="TextBox 8"/>
          <p:cNvSpPr txBox="1"/>
          <p:nvPr/>
        </p:nvSpPr>
        <p:spPr>
          <a:xfrm>
            <a:off x="658368" y="1188720"/>
            <a:ext cx="10789920" cy="1965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F7FAFF"/>
                </a:solidFill>
                <a:latin typeface="Bahnschrift SemiBold"/>
              </a:rPr>
              <a:t>An LLM is a very fancy weighted pattern matcher.</a:t>
            </a:r>
          </a:p>
        </p:txBody>
      </p:sp>
      <p:sp>
        <p:nvSpPr>
          <p:cNvPr id="10" name="Rounded Rectangle 9"/>
          <p:cNvSpPr/>
          <p:nvPr/>
        </p:nvSpPr>
        <p:spPr>
          <a:xfrm>
            <a:off x="658368" y="3858768"/>
            <a:ext cx="10881360" cy="141732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10241280" cy="82296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000" b="0">
                <a:solidFill>
                  <a:srgbClr val="D7E2F2"/>
                </a:solidFill>
                <a:latin typeface="Aptos"/>
              </a:rPr>
              <a:t>It was trained by imitation and answers by prediction, not lookup.</a:t>
            </a:r>
          </a:p>
        </p:txBody>
      </p:sp>
      <p:sp>
        <p:nvSpPr>
          <p:cNvPr id="12" name="TextBox 11"/>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13" name="TextBox 12"/>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8</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WEIGHTS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The 'brain' is billions of learned numbers</a:t>
            </a:r>
          </a:p>
        </p:txBody>
      </p:sp>
      <p:sp>
        <p:nvSpPr>
          <p:cNvPr id="10" name="Rounded Rectangle 9"/>
          <p:cNvSpPr/>
          <p:nvPr/>
        </p:nvSpPr>
        <p:spPr>
          <a:xfrm>
            <a:off x="594360" y="1965960"/>
            <a:ext cx="4709160" cy="34290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86000"/>
            <a:ext cx="32004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MODEL PACKAGE SNAPSHOT</a:t>
            </a:r>
          </a:p>
        </p:txBody>
      </p:sp>
      <p:sp>
        <p:nvSpPr>
          <p:cNvPr id="12" name="TextBox 11"/>
          <p:cNvSpPr txBox="1"/>
          <p:nvPr/>
        </p:nvSpPr>
        <p:spPr>
          <a:xfrm>
            <a:off x="914400" y="2761488"/>
            <a:ext cx="4069080" cy="5029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200" b="1">
                <a:solidFill>
                  <a:srgbClr val="F7FAFF"/>
                </a:solidFill>
                <a:latin typeface="Cascadia Mono"/>
              </a:rPr>
              <a:t>qwen3.8:27b-q4_K_M</a:t>
            </a:r>
          </a:p>
        </p:txBody>
      </p:sp>
      <p:sp>
        <p:nvSpPr>
          <p:cNvPr id="13" name="TextBox 12"/>
          <p:cNvSpPr txBox="1"/>
          <p:nvPr/>
        </p:nvSpPr>
        <p:spPr>
          <a:xfrm>
            <a:off x="914400" y="3520440"/>
            <a:ext cx="219456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2DE2E6"/>
                </a:solidFill>
                <a:latin typeface="Bahnschrift SemiBold"/>
              </a:rPr>
              <a:t>17 GB</a:t>
            </a:r>
          </a:p>
        </p:txBody>
      </p:sp>
      <p:sp>
        <p:nvSpPr>
          <p:cNvPr id="14" name="TextBox 13"/>
          <p:cNvSpPr txBox="1"/>
          <p:nvPr/>
        </p:nvSpPr>
        <p:spPr>
          <a:xfrm>
            <a:off x="2743200" y="3785615"/>
            <a:ext cx="205740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0">
                <a:solidFill>
                  <a:srgbClr val="8FA4C2"/>
                </a:solidFill>
                <a:latin typeface="Aptos"/>
              </a:rPr>
              <a:t>quantized model file</a:t>
            </a:r>
          </a:p>
        </p:txBody>
      </p:sp>
      <p:sp>
        <p:nvSpPr>
          <p:cNvPr id="15" name="TextBox 14"/>
          <p:cNvSpPr txBox="1"/>
          <p:nvPr/>
        </p:nvSpPr>
        <p:spPr>
          <a:xfrm>
            <a:off x="914400" y="4572000"/>
            <a:ext cx="3977639" cy="4572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a:solidFill>
                  <a:srgbClr val="D7E2F2"/>
                </a:solidFill>
                <a:latin typeface="Aptos"/>
              </a:rPr>
              <a:t>~27 billion learned weight values</a:t>
            </a:r>
          </a:p>
        </p:txBody>
      </p:sp>
      <p:sp>
        <p:nvSpPr>
          <p:cNvPr id="16" name="Rounded Rectangle 15"/>
          <p:cNvSpPr/>
          <p:nvPr/>
        </p:nvSpPr>
        <p:spPr>
          <a:xfrm>
            <a:off x="5623560" y="1965960"/>
            <a:ext cx="5943600" cy="93268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25312" y="2167128"/>
            <a:ext cx="1463040" cy="38404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900" b="1">
                <a:solidFill>
                  <a:srgbClr val="A778FF"/>
                </a:solidFill>
                <a:latin typeface="Cascadia Mono"/>
              </a:rPr>
              <a:t>27b</a:t>
            </a:r>
          </a:p>
        </p:txBody>
      </p:sp>
      <p:sp>
        <p:nvSpPr>
          <p:cNvPr id="18" name="TextBox 17"/>
          <p:cNvSpPr txBox="1"/>
          <p:nvPr/>
        </p:nvSpPr>
        <p:spPr>
          <a:xfrm>
            <a:off x="7452360" y="2130552"/>
            <a:ext cx="214884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F7FAFF"/>
                </a:solidFill>
                <a:latin typeface="Aptos"/>
              </a:rPr>
              <a:t>Parameter count</a:t>
            </a:r>
          </a:p>
        </p:txBody>
      </p:sp>
      <p:sp>
        <p:nvSpPr>
          <p:cNvPr id="19" name="TextBox 18"/>
          <p:cNvSpPr txBox="1"/>
          <p:nvPr/>
        </p:nvSpPr>
        <p:spPr>
          <a:xfrm>
            <a:off x="7452360" y="2450591"/>
            <a:ext cx="370332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About 27 billion learned values.</a:t>
            </a:r>
          </a:p>
        </p:txBody>
      </p:sp>
      <p:sp>
        <p:nvSpPr>
          <p:cNvPr id="20" name="Rounded Rectangle 19"/>
          <p:cNvSpPr/>
          <p:nvPr/>
        </p:nvSpPr>
        <p:spPr>
          <a:xfrm>
            <a:off x="5623560" y="3108960"/>
            <a:ext cx="5943600" cy="932688"/>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25312" y="3310128"/>
            <a:ext cx="1463040" cy="38404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900" b="1">
                <a:solidFill>
                  <a:srgbClr val="FFC857"/>
                </a:solidFill>
                <a:latin typeface="Cascadia Mono"/>
              </a:rPr>
              <a:t>q4_K_M</a:t>
            </a:r>
          </a:p>
        </p:txBody>
      </p:sp>
      <p:sp>
        <p:nvSpPr>
          <p:cNvPr id="22" name="TextBox 21"/>
          <p:cNvSpPr txBox="1"/>
          <p:nvPr/>
        </p:nvSpPr>
        <p:spPr>
          <a:xfrm>
            <a:off x="7452360" y="3273552"/>
            <a:ext cx="214884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F7FAFF"/>
                </a:solidFill>
                <a:latin typeface="Aptos"/>
              </a:rPr>
              <a:t>Quantization recipe</a:t>
            </a:r>
          </a:p>
        </p:txBody>
      </p:sp>
      <p:sp>
        <p:nvSpPr>
          <p:cNvPr id="23" name="TextBox 22"/>
          <p:cNvSpPr txBox="1"/>
          <p:nvPr/>
        </p:nvSpPr>
        <p:spPr>
          <a:xfrm>
            <a:off x="7452360" y="3593591"/>
            <a:ext cx="370332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Many weights stored with fewer bits.</a:t>
            </a:r>
          </a:p>
        </p:txBody>
      </p:sp>
      <p:sp>
        <p:nvSpPr>
          <p:cNvPr id="24" name="Rounded Rectangle 23"/>
          <p:cNvSpPr/>
          <p:nvPr/>
        </p:nvSpPr>
        <p:spPr>
          <a:xfrm>
            <a:off x="5623560" y="4251960"/>
            <a:ext cx="5943600" cy="93268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25312" y="4453128"/>
            <a:ext cx="1463040" cy="38404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900" b="1">
                <a:solidFill>
                  <a:srgbClr val="FF6776"/>
                </a:solidFill>
                <a:latin typeface="Cascadia Mono"/>
              </a:rPr>
              <a:t>17 GB</a:t>
            </a:r>
          </a:p>
        </p:txBody>
      </p:sp>
      <p:sp>
        <p:nvSpPr>
          <p:cNvPr id="26" name="TextBox 25"/>
          <p:cNvSpPr txBox="1"/>
          <p:nvPr/>
        </p:nvSpPr>
        <p:spPr>
          <a:xfrm>
            <a:off x="7452360" y="4416552"/>
            <a:ext cx="214884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F7FAFF"/>
                </a:solidFill>
                <a:latin typeface="Aptos"/>
              </a:rPr>
              <a:t>Package size</a:t>
            </a:r>
          </a:p>
        </p:txBody>
      </p:sp>
      <p:sp>
        <p:nvSpPr>
          <p:cNvPr id="27" name="TextBox 26"/>
          <p:cNvSpPr txBox="1"/>
          <p:nvPr/>
        </p:nvSpPr>
        <p:spPr>
          <a:xfrm>
            <a:off x="7452360" y="4736592"/>
            <a:ext cx="370332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The compressed file stored on disk.</a:t>
            </a:r>
          </a:p>
        </p:txBody>
      </p:sp>
      <p:sp>
        <p:nvSpPr>
          <p:cNvPr id="28" name="Rounded Rectangle 27"/>
          <p:cNvSpPr/>
          <p:nvPr/>
        </p:nvSpPr>
        <p:spPr>
          <a:xfrm>
            <a:off x="5623560" y="5394960"/>
            <a:ext cx="5943600" cy="621792"/>
          </a:xfrm>
          <a:prstGeom prst="roundRect">
            <a:avLst/>
          </a:prstGeom>
          <a:solidFill>
            <a:srgbClr val="0E1A33"/>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70448" y="5541264"/>
            <a:ext cx="544068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F7FAFF"/>
                </a:solidFill>
                <a:latin typeface="Aptos"/>
              </a:rPr>
              <a:t>A package of math values - not 27 billion readable facts.</a:t>
            </a:r>
          </a:p>
        </p:txBody>
      </p:sp>
      <p:sp>
        <p:nvSpPr>
          <p:cNvPr id="30" name="TextBox 29"/>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31" name="TextBox 30"/>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9</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VOCABULARY + SCORES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How numbers become coherent text</a:t>
            </a:r>
          </a:p>
        </p:txBody>
      </p:sp>
      <p:sp>
        <p:nvSpPr>
          <p:cNvPr id="10" name="Rounded Rectangle 9"/>
          <p:cNvSpPr/>
          <p:nvPr/>
        </p:nvSpPr>
        <p:spPr>
          <a:xfrm>
            <a:off x="658368" y="1783080"/>
            <a:ext cx="3657600" cy="406908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75688"/>
            <a:ext cx="256032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FIXED TOKEN VOCABULARY</a:t>
            </a:r>
          </a:p>
        </p:txBody>
      </p:sp>
      <p:sp>
        <p:nvSpPr>
          <p:cNvPr id="12" name="TextBox 11"/>
          <p:cNvSpPr txBox="1"/>
          <p:nvPr/>
        </p:nvSpPr>
        <p:spPr>
          <a:xfrm>
            <a:off x="987552" y="2578608"/>
            <a:ext cx="82296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DE2E6"/>
                </a:solidFill>
                <a:latin typeface="Cascadia Mono"/>
              </a:rPr>
              <a:t>#91</a:t>
            </a:r>
          </a:p>
        </p:txBody>
      </p:sp>
      <p:sp>
        <p:nvSpPr>
          <p:cNvPr id="13" name="TextBox 12"/>
          <p:cNvSpPr txBox="1"/>
          <p:nvPr/>
        </p:nvSpPr>
        <p:spPr>
          <a:xfrm>
            <a:off x="1828800" y="2578608"/>
            <a:ext cx="384048"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8FA4C2"/>
                </a:solidFill>
                <a:latin typeface="Cascadia Mono"/>
              </a:rPr>
              <a:t>-&gt;</a:t>
            </a:r>
          </a:p>
        </p:txBody>
      </p:sp>
      <p:sp>
        <p:nvSpPr>
          <p:cNvPr id="14" name="TextBox 13"/>
          <p:cNvSpPr txBox="1"/>
          <p:nvPr/>
        </p:nvSpPr>
        <p:spPr>
          <a:xfrm>
            <a:off x="2267712" y="2578608"/>
            <a:ext cx="160020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Cascadia Mono"/>
              </a:rPr>
              <a:t>"what"</a:t>
            </a:r>
          </a:p>
        </p:txBody>
      </p:sp>
      <p:sp>
        <p:nvSpPr>
          <p:cNvPr id="15" name="TextBox 14"/>
          <p:cNvSpPr txBox="1"/>
          <p:nvPr/>
        </p:nvSpPr>
        <p:spPr>
          <a:xfrm>
            <a:off x="987552" y="3145536"/>
            <a:ext cx="82296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DE2E6"/>
                </a:solidFill>
                <a:latin typeface="Cascadia Mono"/>
              </a:rPr>
              <a:t>#522</a:t>
            </a:r>
          </a:p>
        </p:txBody>
      </p:sp>
      <p:sp>
        <p:nvSpPr>
          <p:cNvPr id="16" name="TextBox 15"/>
          <p:cNvSpPr txBox="1"/>
          <p:nvPr/>
        </p:nvSpPr>
        <p:spPr>
          <a:xfrm>
            <a:off x="1828800" y="3145536"/>
            <a:ext cx="384048"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8FA4C2"/>
                </a:solidFill>
                <a:latin typeface="Cascadia Mono"/>
              </a:rPr>
              <a:t>-&gt;</a:t>
            </a:r>
          </a:p>
        </p:txBody>
      </p:sp>
      <p:sp>
        <p:nvSpPr>
          <p:cNvPr id="17" name="TextBox 16"/>
          <p:cNvSpPr txBox="1"/>
          <p:nvPr/>
        </p:nvSpPr>
        <p:spPr>
          <a:xfrm>
            <a:off x="2267712" y="3145536"/>
            <a:ext cx="160020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Cascadia Mono"/>
              </a:rPr>
              <a:t>"is"</a:t>
            </a:r>
          </a:p>
        </p:txBody>
      </p:sp>
      <p:sp>
        <p:nvSpPr>
          <p:cNvPr id="18" name="TextBox 17"/>
          <p:cNvSpPr txBox="1"/>
          <p:nvPr/>
        </p:nvSpPr>
        <p:spPr>
          <a:xfrm>
            <a:off x="987552" y="3712463"/>
            <a:ext cx="82296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DE2E6"/>
                </a:solidFill>
                <a:latin typeface="Cascadia Mono"/>
              </a:rPr>
              <a:t>#2210</a:t>
            </a:r>
          </a:p>
        </p:txBody>
      </p:sp>
      <p:sp>
        <p:nvSpPr>
          <p:cNvPr id="19" name="TextBox 18"/>
          <p:cNvSpPr txBox="1"/>
          <p:nvPr/>
        </p:nvSpPr>
        <p:spPr>
          <a:xfrm>
            <a:off x="1828800" y="3712463"/>
            <a:ext cx="384048"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8FA4C2"/>
                </a:solidFill>
                <a:latin typeface="Cascadia Mono"/>
              </a:rPr>
              <a:t>-&gt;</a:t>
            </a:r>
          </a:p>
        </p:txBody>
      </p:sp>
      <p:sp>
        <p:nvSpPr>
          <p:cNvPr id="20" name="TextBox 19"/>
          <p:cNvSpPr txBox="1"/>
          <p:nvPr/>
        </p:nvSpPr>
        <p:spPr>
          <a:xfrm>
            <a:off x="2267712" y="3712463"/>
            <a:ext cx="160020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Cascadia Mono"/>
              </a:rPr>
              <a:t>"capital"</a:t>
            </a:r>
          </a:p>
        </p:txBody>
      </p:sp>
      <p:sp>
        <p:nvSpPr>
          <p:cNvPr id="21" name="TextBox 20"/>
          <p:cNvSpPr txBox="1"/>
          <p:nvPr/>
        </p:nvSpPr>
        <p:spPr>
          <a:xfrm>
            <a:off x="987552" y="4279392"/>
            <a:ext cx="82296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DE2E6"/>
                </a:solidFill>
                <a:latin typeface="Cascadia Mono"/>
              </a:rPr>
              <a:t>#1188</a:t>
            </a:r>
          </a:p>
        </p:txBody>
      </p:sp>
      <p:sp>
        <p:nvSpPr>
          <p:cNvPr id="22" name="TextBox 21"/>
          <p:cNvSpPr txBox="1"/>
          <p:nvPr/>
        </p:nvSpPr>
        <p:spPr>
          <a:xfrm>
            <a:off x="1828800" y="4279392"/>
            <a:ext cx="384048"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8FA4C2"/>
                </a:solidFill>
                <a:latin typeface="Cascadia Mono"/>
              </a:rPr>
              <a:t>-&gt;</a:t>
            </a:r>
          </a:p>
        </p:txBody>
      </p:sp>
      <p:sp>
        <p:nvSpPr>
          <p:cNvPr id="23" name="TextBox 22"/>
          <p:cNvSpPr txBox="1"/>
          <p:nvPr/>
        </p:nvSpPr>
        <p:spPr>
          <a:xfrm>
            <a:off x="2267712" y="4279392"/>
            <a:ext cx="160020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Cascadia Mono"/>
              </a:rPr>
              <a:t>"France"</a:t>
            </a:r>
          </a:p>
        </p:txBody>
      </p:sp>
      <p:sp>
        <p:nvSpPr>
          <p:cNvPr id="24" name="TextBox 23"/>
          <p:cNvSpPr txBox="1"/>
          <p:nvPr/>
        </p:nvSpPr>
        <p:spPr>
          <a:xfrm>
            <a:off x="987552" y="4846320"/>
            <a:ext cx="82296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DE2E6"/>
                </a:solidFill>
                <a:latin typeface="Cascadia Mono"/>
              </a:rPr>
              <a:t>#4402</a:t>
            </a:r>
          </a:p>
        </p:txBody>
      </p:sp>
      <p:sp>
        <p:nvSpPr>
          <p:cNvPr id="25" name="TextBox 24"/>
          <p:cNvSpPr txBox="1"/>
          <p:nvPr/>
        </p:nvSpPr>
        <p:spPr>
          <a:xfrm>
            <a:off x="1828800" y="4846320"/>
            <a:ext cx="384048"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8FA4C2"/>
                </a:solidFill>
                <a:latin typeface="Cascadia Mono"/>
              </a:rPr>
              <a:t>-&gt;</a:t>
            </a:r>
          </a:p>
        </p:txBody>
      </p:sp>
      <p:sp>
        <p:nvSpPr>
          <p:cNvPr id="26" name="TextBox 25"/>
          <p:cNvSpPr txBox="1"/>
          <p:nvPr/>
        </p:nvSpPr>
        <p:spPr>
          <a:xfrm>
            <a:off x="2267712" y="4846320"/>
            <a:ext cx="160020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Cascadia Mono"/>
              </a:rPr>
              <a:t>"Paris"</a:t>
            </a:r>
          </a:p>
        </p:txBody>
      </p:sp>
      <p:sp>
        <p:nvSpPr>
          <p:cNvPr id="27" name="TextBox 26"/>
          <p:cNvSpPr txBox="1"/>
          <p:nvPr/>
        </p:nvSpPr>
        <p:spPr>
          <a:xfrm>
            <a:off x="987552" y="5212080"/>
            <a:ext cx="2971800" cy="5029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D7E2F2"/>
                </a:solidFill>
                <a:latin typeface="Aptos"/>
              </a:rPr>
              <a:t>Vocabulary = available pieces,
not stored knowledge.</a:t>
            </a:r>
          </a:p>
        </p:txBody>
      </p:sp>
      <p:sp>
        <p:nvSpPr>
          <p:cNvPr id="28" name="Rounded Rectangle 27"/>
          <p:cNvSpPr/>
          <p:nvPr/>
        </p:nvSpPr>
        <p:spPr>
          <a:xfrm>
            <a:off x="4553712" y="1783080"/>
            <a:ext cx="6995160" cy="406908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4608" y="2075688"/>
            <a:ext cx="164592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QUESTION IN</a:t>
            </a:r>
          </a:p>
        </p:txBody>
      </p:sp>
      <p:sp>
        <p:nvSpPr>
          <p:cNvPr id="30" name="TextBox 29"/>
          <p:cNvSpPr txBox="1"/>
          <p:nvPr/>
        </p:nvSpPr>
        <p:spPr>
          <a:xfrm>
            <a:off x="4864608" y="2459736"/>
            <a:ext cx="6126480" cy="38404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Cascadia Mono"/>
              </a:rPr>
              <a:t>"what is the capital of France?"</a:t>
            </a:r>
          </a:p>
        </p:txBody>
      </p:sp>
      <p:sp>
        <p:nvSpPr>
          <p:cNvPr id="31" name="TextBox 30"/>
          <p:cNvSpPr txBox="1"/>
          <p:nvPr/>
        </p:nvSpPr>
        <p:spPr>
          <a:xfrm>
            <a:off x="4864608" y="3081528"/>
            <a:ext cx="201168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C857"/>
                </a:solidFill>
                <a:latin typeface="Aptos"/>
              </a:rPr>
              <a:t>NEXT-TOKEN SCORES</a:t>
            </a:r>
          </a:p>
        </p:txBody>
      </p:sp>
      <p:sp>
        <p:nvSpPr>
          <p:cNvPr id="32" name="TextBox 31"/>
          <p:cNvSpPr txBox="1"/>
          <p:nvPr/>
        </p:nvSpPr>
        <p:spPr>
          <a:xfrm>
            <a:off x="4864608" y="3493008"/>
            <a:ext cx="9144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1">
                <a:solidFill>
                  <a:srgbClr val="F7FAFF"/>
                </a:solidFill>
                <a:latin typeface="Cascadia Mono"/>
              </a:rPr>
              <a:t>Paris</a:t>
            </a:r>
          </a:p>
        </p:txBody>
      </p:sp>
      <p:sp>
        <p:nvSpPr>
          <p:cNvPr id="33" name="Rounded Rectangle 32"/>
          <p:cNvSpPr/>
          <p:nvPr/>
        </p:nvSpPr>
        <p:spPr>
          <a:xfrm>
            <a:off x="5833872" y="3511296"/>
            <a:ext cx="4663440" cy="2286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52760" y="3493008"/>
            <a:ext cx="502920" cy="25603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1200" b="1">
                <a:solidFill>
                  <a:srgbClr val="2DE2E6"/>
                </a:solidFill>
                <a:latin typeface="Cascadia Mono"/>
              </a:rPr>
              <a:t>95.0%</a:t>
            </a:r>
          </a:p>
        </p:txBody>
      </p:sp>
      <p:sp>
        <p:nvSpPr>
          <p:cNvPr id="35" name="TextBox 34"/>
          <p:cNvSpPr txBox="1"/>
          <p:nvPr/>
        </p:nvSpPr>
        <p:spPr>
          <a:xfrm>
            <a:off x="4864608" y="3968496"/>
            <a:ext cx="9144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1">
                <a:solidFill>
                  <a:srgbClr val="F7FAFF"/>
                </a:solidFill>
                <a:latin typeface="Cascadia Mono"/>
              </a:rPr>
              <a:t>London</a:t>
            </a:r>
          </a:p>
        </p:txBody>
      </p:sp>
      <p:sp>
        <p:nvSpPr>
          <p:cNvPr id="36" name="Rounded Rectangle 35"/>
          <p:cNvSpPr/>
          <p:nvPr/>
        </p:nvSpPr>
        <p:spPr>
          <a:xfrm>
            <a:off x="5833872" y="3986783"/>
            <a:ext cx="201168" cy="2286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52760" y="3968496"/>
            <a:ext cx="502920" cy="25603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1200" b="1">
                <a:solidFill>
                  <a:srgbClr val="A778FF"/>
                </a:solidFill>
                <a:latin typeface="Cascadia Mono"/>
              </a:rPr>
              <a:t>2.1%</a:t>
            </a:r>
          </a:p>
        </p:txBody>
      </p:sp>
      <p:sp>
        <p:nvSpPr>
          <p:cNvPr id="38" name="TextBox 37"/>
          <p:cNvSpPr txBox="1"/>
          <p:nvPr/>
        </p:nvSpPr>
        <p:spPr>
          <a:xfrm>
            <a:off x="4864608" y="4443983"/>
            <a:ext cx="9144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1">
                <a:solidFill>
                  <a:srgbClr val="F7FAFF"/>
                </a:solidFill>
                <a:latin typeface="Cascadia Mono"/>
              </a:rPr>
              <a:t>Lyon</a:t>
            </a:r>
          </a:p>
        </p:txBody>
      </p:sp>
      <p:sp>
        <p:nvSpPr>
          <p:cNvPr id="39" name="Rounded Rectangle 38"/>
          <p:cNvSpPr/>
          <p:nvPr/>
        </p:nvSpPr>
        <p:spPr>
          <a:xfrm>
            <a:off x="5833872" y="4462271"/>
            <a:ext cx="137160" cy="2286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52760" y="4443983"/>
            <a:ext cx="502920" cy="25603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1200" b="1">
                <a:solidFill>
                  <a:srgbClr val="FF6776"/>
                </a:solidFill>
                <a:latin typeface="Cascadia Mono"/>
              </a:rPr>
              <a:t>1.3%</a:t>
            </a:r>
          </a:p>
        </p:txBody>
      </p:sp>
      <p:sp>
        <p:nvSpPr>
          <p:cNvPr id="41" name="TextBox 40"/>
          <p:cNvSpPr txBox="1"/>
          <p:nvPr/>
        </p:nvSpPr>
        <p:spPr>
          <a:xfrm>
            <a:off x="4864608" y="4919472"/>
            <a:ext cx="9144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1">
                <a:solidFill>
                  <a:srgbClr val="F7FAFF"/>
                </a:solidFill>
                <a:latin typeface="Cascadia Mono"/>
              </a:rPr>
              <a:t>Nice</a:t>
            </a:r>
          </a:p>
        </p:txBody>
      </p:sp>
      <p:sp>
        <p:nvSpPr>
          <p:cNvPr id="42" name="Rounded Rectangle 41"/>
          <p:cNvSpPr/>
          <p:nvPr/>
        </p:nvSpPr>
        <p:spPr>
          <a:xfrm>
            <a:off x="5833872" y="4937759"/>
            <a:ext cx="91440" cy="22860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52760" y="4919472"/>
            <a:ext cx="502920" cy="25603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1200" b="1">
                <a:solidFill>
                  <a:srgbClr val="FFC857"/>
                </a:solidFill>
                <a:latin typeface="Cascadia Mono"/>
              </a:rPr>
              <a:t>0.4%</a:t>
            </a:r>
          </a:p>
        </p:txBody>
      </p:sp>
      <p:sp>
        <p:nvSpPr>
          <p:cNvPr id="44" name="TextBox 43"/>
          <p:cNvSpPr txBox="1"/>
          <p:nvPr/>
        </p:nvSpPr>
        <p:spPr>
          <a:xfrm>
            <a:off x="4864608" y="5468112"/>
            <a:ext cx="2971800" cy="320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a:solidFill>
                  <a:srgbClr val="2DE2E6"/>
                </a:solidFill>
                <a:latin typeface="Cascadia Mono"/>
              </a:rPr>
              <a:t>CHOSEN TOKEN:  "Paris"</a:t>
            </a:r>
          </a:p>
        </p:txBody>
      </p:sp>
      <p:sp>
        <p:nvSpPr>
          <p:cNvPr id="45" name="TextBox 44"/>
          <p:cNvSpPr txBox="1"/>
          <p:nvPr/>
        </p:nvSpPr>
        <p:spPr>
          <a:xfrm>
            <a:off x="4526280" y="5943600"/>
            <a:ext cx="7040880" cy="201168"/>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800" b="1">
                <a:solidFill>
                  <a:srgbClr val="8FA4C2"/>
                </a:solidFill>
                <a:latin typeface="Aptos"/>
              </a:rPr>
              <a:t>ILLUSTRATIVE EXAMPLE - TOKEN IDs AND SCORES ARE PLACEHOLDERS</a:t>
            </a:r>
          </a:p>
        </p:txBody>
      </p:sp>
      <p:sp>
        <p:nvSpPr>
          <p:cNvPr id="46" name="TextBox 4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7" name="TextBox 4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10</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TEMPERATURE</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Temperature controls how adventurous each choice is</a:t>
            </a:r>
          </a:p>
        </p:txBody>
      </p:sp>
      <p:sp>
        <p:nvSpPr>
          <p:cNvPr id="10" name="Rounded Rectangle 9"/>
          <p:cNvSpPr/>
          <p:nvPr/>
        </p:nvSpPr>
        <p:spPr>
          <a:xfrm>
            <a:off x="566928" y="1975104"/>
            <a:ext cx="5330952" cy="38862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2DE2E6"/>
                </a:solidFill>
                <a:latin typeface="Aptos"/>
              </a:rPr>
              <a:t>FOLLOW THE FAVORITES</a:t>
            </a:r>
          </a:p>
        </p:txBody>
      </p:sp>
      <p:sp>
        <p:nvSpPr>
          <p:cNvPr id="12" name="TextBox 11"/>
          <p:cNvSpPr txBox="1"/>
          <p:nvPr/>
        </p:nvSpPr>
        <p:spPr>
          <a:xfrm>
            <a:off x="886968"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LOW TEMPERATURE</a:t>
            </a:r>
          </a:p>
        </p:txBody>
      </p:sp>
      <p:sp>
        <p:nvSpPr>
          <p:cNvPr id="13" name="Oval 12"/>
          <p:cNvSpPr/>
          <p:nvPr/>
        </p:nvSpPr>
        <p:spPr>
          <a:xfrm>
            <a:off x="914400" y="3429000"/>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5"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Mostly chooses the strongest candidate</a:t>
            </a:r>
          </a:p>
        </p:txBody>
      </p:sp>
      <p:sp>
        <p:nvSpPr>
          <p:cNvPr id="15" name="Oval 14"/>
          <p:cNvSpPr/>
          <p:nvPr/>
        </p:nvSpPr>
        <p:spPr>
          <a:xfrm>
            <a:off x="914400" y="4087368"/>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5"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More repeatable and focused</a:t>
            </a:r>
          </a:p>
        </p:txBody>
      </p:sp>
      <p:sp>
        <p:nvSpPr>
          <p:cNvPr id="17" name="Oval 16"/>
          <p:cNvSpPr/>
          <p:nvPr/>
        </p:nvSpPr>
        <p:spPr>
          <a:xfrm>
            <a:off x="914400" y="4745736"/>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5"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Zero is still not a perfect guarantee</a:t>
            </a:r>
          </a:p>
        </p:txBody>
      </p:sp>
      <p:sp>
        <p:nvSpPr>
          <p:cNvPr id="19" name="Rounded Rectangle 18"/>
          <p:cNvSpPr/>
          <p:nvPr/>
        </p:nvSpPr>
        <p:spPr>
          <a:xfrm>
            <a:off x="6291072" y="1975104"/>
            <a:ext cx="5330952" cy="38862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A778FF"/>
                </a:solidFill>
                <a:latin typeface="Aptos"/>
              </a:rPr>
              <a:t>EXPLORE ALTERNATIVES</a:t>
            </a:r>
          </a:p>
        </p:txBody>
      </p:sp>
      <p:sp>
        <p:nvSpPr>
          <p:cNvPr id="21" name="TextBox 20"/>
          <p:cNvSpPr txBox="1"/>
          <p:nvPr/>
        </p:nvSpPr>
        <p:spPr>
          <a:xfrm>
            <a:off x="6611112"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HIGH TEMPERATURE</a:t>
            </a:r>
          </a:p>
        </p:txBody>
      </p:sp>
      <p:sp>
        <p:nvSpPr>
          <p:cNvPr id="22" name="Oval 21"/>
          <p:cNvSpPr/>
          <p:nvPr/>
        </p:nvSpPr>
        <p:spPr>
          <a:xfrm>
            <a:off x="6638544" y="3429000"/>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Gives weaker candidates more of a chance</a:t>
            </a:r>
          </a:p>
        </p:txBody>
      </p:sp>
      <p:sp>
        <p:nvSpPr>
          <p:cNvPr id="24" name="Oval 23"/>
          <p:cNvSpPr/>
          <p:nvPr/>
        </p:nvSpPr>
        <p:spPr>
          <a:xfrm>
            <a:off x="6638544" y="4087368"/>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More varied or creative</a:t>
            </a:r>
          </a:p>
        </p:txBody>
      </p:sp>
      <p:sp>
        <p:nvSpPr>
          <p:cNvPr id="26" name="Oval 25"/>
          <p:cNvSpPr/>
          <p:nvPr/>
        </p:nvSpPr>
        <p:spPr>
          <a:xfrm>
            <a:off x="6638544" y="4745736"/>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More opportunity for mistakes</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11</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TRAINING</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Training is how the weights are learned</a:t>
            </a:r>
          </a:p>
        </p:txBody>
      </p:sp>
      <p:sp>
        <p:nvSpPr>
          <p:cNvPr id="10" name="Rounded Rectangle 9"/>
          <p:cNvSpPr/>
          <p:nvPr/>
        </p:nvSpPr>
        <p:spPr>
          <a:xfrm>
            <a:off x="585216" y="2331720"/>
            <a:ext cx="2035454"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EXAMPLE</a:t>
            </a:r>
          </a:p>
        </p:txBody>
      </p:sp>
      <p:sp>
        <p:nvSpPr>
          <p:cNvPr id="15" name="TextBox 14"/>
          <p:cNvSpPr txBox="1"/>
          <p:nvPr/>
        </p:nvSpPr>
        <p:spPr>
          <a:xfrm>
            <a:off x="877824"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Give the model text with a known next token.</a:t>
            </a:r>
          </a:p>
        </p:txBody>
      </p:sp>
      <p:cxnSp>
        <p:nvCxnSpPr>
          <p:cNvPr id="16" name="Connector 15"/>
          <p:cNvCxnSpPr/>
          <p:nvPr/>
        </p:nvCxnSpPr>
        <p:spPr>
          <a:xfrm>
            <a:off x="263895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30982" y="2331720"/>
            <a:ext cx="2035454"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0982"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87014"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701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3699662"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PREDICT</a:t>
            </a:r>
          </a:p>
        </p:txBody>
      </p:sp>
      <p:sp>
        <p:nvSpPr>
          <p:cNvPr id="22" name="TextBox 21"/>
          <p:cNvSpPr txBox="1"/>
          <p:nvPr/>
        </p:nvSpPr>
        <p:spPr>
          <a:xfrm>
            <a:off x="3123590"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Ask what token should come next.</a:t>
            </a:r>
          </a:p>
        </p:txBody>
      </p:sp>
      <p:cxnSp>
        <p:nvCxnSpPr>
          <p:cNvPr id="23" name="Connector 22"/>
          <p:cNvCxnSpPr/>
          <p:nvPr/>
        </p:nvCxnSpPr>
        <p:spPr>
          <a:xfrm>
            <a:off x="4884724"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76748" y="2331720"/>
            <a:ext cx="2035454"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6748"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32780"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2780"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5945428"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CHECK</a:t>
            </a:r>
          </a:p>
        </p:txBody>
      </p:sp>
      <p:sp>
        <p:nvSpPr>
          <p:cNvPr id="29" name="TextBox 28"/>
          <p:cNvSpPr txBox="1"/>
          <p:nvPr/>
        </p:nvSpPr>
        <p:spPr>
          <a:xfrm>
            <a:off x="5369356"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Measure the prediction against the known answer.</a:t>
            </a:r>
          </a:p>
        </p:txBody>
      </p:sp>
      <p:cxnSp>
        <p:nvCxnSpPr>
          <p:cNvPr id="30" name="Connector 29"/>
          <p:cNvCxnSpPr/>
          <p:nvPr/>
        </p:nvCxnSpPr>
        <p:spPr>
          <a:xfrm>
            <a:off x="7130491"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22515" y="2331720"/>
            <a:ext cx="2035454"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22515"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78547"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8547"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81911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ADJUST</a:t>
            </a:r>
          </a:p>
        </p:txBody>
      </p:sp>
      <p:sp>
        <p:nvSpPr>
          <p:cNvPr id="36" name="TextBox 35"/>
          <p:cNvSpPr txBox="1"/>
          <p:nvPr/>
        </p:nvSpPr>
        <p:spPr>
          <a:xfrm>
            <a:off x="7615123"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Nudge the weights toward a better prediction.</a:t>
            </a:r>
          </a:p>
        </p:txBody>
      </p:sp>
      <p:cxnSp>
        <p:nvCxnSpPr>
          <p:cNvPr id="37" name="Connector 36"/>
          <p:cNvCxnSpPr/>
          <p:nvPr/>
        </p:nvCxnSpPr>
        <p:spPr>
          <a:xfrm>
            <a:off x="9376257"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68281" y="2331720"/>
            <a:ext cx="2035454" cy="2514600"/>
          </a:xfrm>
          <a:prstGeom prst="roundRect">
            <a:avLst/>
          </a:prstGeom>
          <a:solidFill>
            <a:srgbClr val="142442"/>
          </a:solidFill>
          <a:ln w="19050">
            <a:solidFill>
              <a:srgbClr val="55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68281" y="2331720"/>
            <a:ext cx="73152" cy="2514600"/>
          </a:xfrm>
          <a:prstGeom prst="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824313" y="2587752"/>
            <a:ext cx="475488" cy="420624"/>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4313"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5</a:t>
            </a:r>
          </a:p>
        </p:txBody>
      </p:sp>
      <p:sp>
        <p:nvSpPr>
          <p:cNvPr id="42" name="TextBox 41"/>
          <p:cNvSpPr txBox="1"/>
          <p:nvPr/>
        </p:nvSpPr>
        <p:spPr>
          <a:xfrm>
            <a:off x="10436961"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REPEAT</a:t>
            </a:r>
          </a:p>
        </p:txBody>
      </p:sp>
      <p:sp>
        <p:nvSpPr>
          <p:cNvPr id="43" name="TextBox 42"/>
          <p:cNvSpPr txBox="1"/>
          <p:nvPr/>
        </p:nvSpPr>
        <p:spPr>
          <a:xfrm>
            <a:off x="9860889"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Do it across an enormous training mixture.</a:t>
            </a:r>
          </a:p>
        </p:txBody>
      </p:sp>
      <p:sp>
        <p:nvSpPr>
          <p:cNvPr id="44" name="Rounded Rectangle 43"/>
          <p:cNvSpPr/>
          <p:nvPr/>
        </p:nvSpPr>
        <p:spPr>
          <a:xfrm>
            <a:off x="1051560" y="5230368"/>
            <a:ext cx="10104120" cy="566928"/>
          </a:xfrm>
          <a:prstGeom prst="roundRect">
            <a:avLst/>
          </a:prstGeom>
          <a:solidFill>
            <a:srgbClr val="0E1A33"/>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TRAINING CHANGES THE WEIGHTS. GENERATION DOES NOT.</a:t>
            </a:r>
          </a:p>
        </p:txBody>
      </p:sp>
      <p:sp>
        <p:nvSpPr>
          <p:cNvPr id="46" name="TextBox 4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7" name="TextBox 4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12</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TRAINING VS. GENERATION</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Two loops. Only one changes the model.</a:t>
            </a:r>
          </a:p>
        </p:txBody>
      </p:sp>
      <p:sp>
        <p:nvSpPr>
          <p:cNvPr id="10" name="Rounded Rectangle 9"/>
          <p:cNvSpPr/>
          <p:nvPr/>
        </p:nvSpPr>
        <p:spPr>
          <a:xfrm>
            <a:off x="566928" y="1975104"/>
            <a:ext cx="5330952" cy="38862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2DE2E6"/>
                </a:solidFill>
                <a:latin typeface="Aptos"/>
              </a:rPr>
              <a:t>BEFORE RELEASE</a:t>
            </a:r>
          </a:p>
        </p:txBody>
      </p:sp>
      <p:sp>
        <p:nvSpPr>
          <p:cNvPr id="12" name="TextBox 11"/>
          <p:cNvSpPr txBox="1"/>
          <p:nvPr/>
        </p:nvSpPr>
        <p:spPr>
          <a:xfrm>
            <a:off x="886968"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TRAINING</a:t>
            </a:r>
          </a:p>
        </p:txBody>
      </p:sp>
      <p:sp>
        <p:nvSpPr>
          <p:cNvPr id="13" name="Oval 12"/>
          <p:cNvSpPr/>
          <p:nvPr/>
        </p:nvSpPr>
        <p:spPr>
          <a:xfrm>
            <a:off x="914400" y="3429000"/>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5"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Uses examples with a known target</a:t>
            </a:r>
          </a:p>
        </p:txBody>
      </p:sp>
      <p:sp>
        <p:nvSpPr>
          <p:cNvPr id="15" name="Oval 14"/>
          <p:cNvSpPr/>
          <p:nvPr/>
        </p:nvSpPr>
        <p:spPr>
          <a:xfrm>
            <a:off x="914400" y="4087368"/>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5"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Compares prediction with the target</a:t>
            </a:r>
          </a:p>
        </p:txBody>
      </p:sp>
      <p:sp>
        <p:nvSpPr>
          <p:cNvPr id="17" name="Oval 16"/>
          <p:cNvSpPr/>
          <p:nvPr/>
        </p:nvSpPr>
        <p:spPr>
          <a:xfrm>
            <a:off x="914400" y="4745736"/>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5"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Adjusts the weights after errors</a:t>
            </a:r>
          </a:p>
        </p:txBody>
      </p:sp>
      <p:sp>
        <p:nvSpPr>
          <p:cNvPr id="19" name="Rounded Rectangle 18"/>
          <p:cNvSpPr/>
          <p:nvPr/>
        </p:nvSpPr>
        <p:spPr>
          <a:xfrm>
            <a:off x="6291072" y="1975104"/>
            <a:ext cx="5330952" cy="38862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A778FF"/>
                </a:solidFill>
                <a:latin typeface="Aptos"/>
              </a:rPr>
              <a:t>WHEN YOU USE IT</a:t>
            </a:r>
          </a:p>
        </p:txBody>
      </p:sp>
      <p:sp>
        <p:nvSpPr>
          <p:cNvPr id="21" name="TextBox 20"/>
          <p:cNvSpPr txBox="1"/>
          <p:nvPr/>
        </p:nvSpPr>
        <p:spPr>
          <a:xfrm>
            <a:off x="6611112"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GENERATION</a:t>
            </a:r>
          </a:p>
        </p:txBody>
      </p:sp>
      <p:sp>
        <p:nvSpPr>
          <p:cNvPr id="22" name="Oval 21"/>
          <p:cNvSpPr/>
          <p:nvPr/>
        </p:nvSpPr>
        <p:spPr>
          <a:xfrm>
            <a:off x="6638544" y="3429000"/>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Uses your prompt and current context</a:t>
            </a:r>
          </a:p>
        </p:txBody>
      </p:sp>
      <p:sp>
        <p:nvSpPr>
          <p:cNvPr id="24" name="Oval 23"/>
          <p:cNvSpPr/>
          <p:nvPr/>
        </p:nvSpPr>
        <p:spPr>
          <a:xfrm>
            <a:off x="6638544" y="4087368"/>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Chooses and appends one token</a:t>
            </a:r>
          </a:p>
        </p:txBody>
      </p:sp>
      <p:sp>
        <p:nvSpPr>
          <p:cNvPr id="26" name="Oval 25"/>
          <p:cNvSpPr/>
          <p:nvPr/>
        </p:nvSpPr>
        <p:spPr>
          <a:xfrm>
            <a:off x="6638544" y="4745736"/>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The trained weights stay fixed</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13</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DIFFERENT MODELS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Similar ingredients. Different kitchens.</a:t>
            </a:r>
          </a:p>
        </p:txBody>
      </p:sp>
      <p:sp>
        <p:nvSpPr>
          <p:cNvPr id="10" name="Rounded Rectangle 9"/>
          <p:cNvSpPr/>
          <p:nvPr/>
        </p:nvSpPr>
        <p:spPr>
          <a:xfrm>
            <a:off x="566928" y="2148840"/>
            <a:ext cx="3493008" cy="3401568"/>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48840"/>
            <a:ext cx="73152" cy="34015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240487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35607"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THE RECIPE</a:t>
            </a:r>
          </a:p>
        </p:txBody>
      </p:sp>
      <p:sp>
        <p:nvSpPr>
          <p:cNvPr id="15" name="TextBox 14"/>
          <p:cNvSpPr txBox="1"/>
          <p:nvPr/>
        </p:nvSpPr>
        <p:spPr>
          <a:xfrm>
            <a:off x="859536"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Architecture and scale: how the math is arranged and how much capacity it has.</a:t>
            </a:r>
          </a:p>
        </p:txBody>
      </p:sp>
      <p:sp>
        <p:nvSpPr>
          <p:cNvPr id="16" name="Rounded Rectangle 15"/>
          <p:cNvSpPr/>
          <p:nvPr/>
        </p:nvSpPr>
        <p:spPr>
          <a:xfrm>
            <a:off x="4389120" y="2148840"/>
            <a:ext cx="3493008" cy="340156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148840"/>
            <a:ext cx="73152" cy="3401568"/>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45152" y="240487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0" name="TextBox 19"/>
          <p:cNvSpPr txBox="1"/>
          <p:nvPr/>
        </p:nvSpPr>
        <p:spPr>
          <a:xfrm>
            <a:off x="5257800"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THE MIX</a:t>
            </a:r>
          </a:p>
        </p:txBody>
      </p:sp>
      <p:sp>
        <p:nvSpPr>
          <p:cNvPr id="21" name="TextBox 20"/>
          <p:cNvSpPr txBox="1"/>
          <p:nvPr/>
        </p:nvSpPr>
        <p:spPr>
          <a:xfrm>
            <a:off x="4681728"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Data selection: code, books, conversation, licensed data, synthetic examples, and filtering.</a:t>
            </a:r>
          </a:p>
        </p:txBody>
      </p:sp>
      <p:sp>
        <p:nvSpPr>
          <p:cNvPr id="22" name="Rounded Rectangle 21"/>
          <p:cNvSpPr/>
          <p:nvPr/>
        </p:nvSpPr>
        <p:spPr>
          <a:xfrm>
            <a:off x="8211311" y="2148840"/>
            <a:ext cx="3493008" cy="3401568"/>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1" y="2148840"/>
            <a:ext cx="73152" cy="3401568"/>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67343" y="240487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67343"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6" name="TextBox 25"/>
          <p:cNvSpPr txBox="1"/>
          <p:nvPr/>
        </p:nvSpPr>
        <p:spPr>
          <a:xfrm>
            <a:off x="9079991"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THE SEASONING</a:t>
            </a:r>
          </a:p>
        </p:txBody>
      </p:sp>
      <p:sp>
        <p:nvSpPr>
          <p:cNvPr id="27" name="TextBox 26"/>
          <p:cNvSpPr txBox="1"/>
          <p:nvPr/>
        </p:nvSpPr>
        <p:spPr>
          <a:xfrm>
            <a:off x="8503919"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Post-training shapes behavior, safety, tool use, reasoning style, and uncertainty.</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14</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QUANTIZATION</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Fewer digits, not fewer ideas</a:t>
            </a:r>
          </a:p>
        </p:txBody>
      </p:sp>
      <p:sp>
        <p:nvSpPr>
          <p:cNvPr id="10" name="Rounded Rectangle 9"/>
          <p:cNvSpPr/>
          <p:nvPr/>
        </p:nvSpPr>
        <p:spPr>
          <a:xfrm>
            <a:off x="566928" y="1975104"/>
            <a:ext cx="5330952" cy="38862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2DE2E6"/>
                </a:solidFill>
                <a:latin typeface="Aptos"/>
              </a:rPr>
              <a:t>LARGER</a:t>
            </a:r>
          </a:p>
        </p:txBody>
      </p:sp>
      <p:sp>
        <p:nvSpPr>
          <p:cNvPr id="12" name="TextBox 11"/>
          <p:cNvSpPr txBox="1"/>
          <p:nvPr/>
        </p:nvSpPr>
        <p:spPr>
          <a:xfrm>
            <a:off x="886968"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HIGHER PRECISION</a:t>
            </a:r>
          </a:p>
        </p:txBody>
      </p:sp>
      <p:sp>
        <p:nvSpPr>
          <p:cNvPr id="13" name="Oval 12"/>
          <p:cNvSpPr/>
          <p:nvPr/>
        </p:nvSpPr>
        <p:spPr>
          <a:xfrm>
            <a:off x="914400" y="3429000"/>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5"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Bigger model file</a:t>
            </a:r>
          </a:p>
        </p:txBody>
      </p:sp>
      <p:sp>
        <p:nvSpPr>
          <p:cNvPr id="15" name="Oval 14"/>
          <p:cNvSpPr/>
          <p:nvPr/>
        </p:nvSpPr>
        <p:spPr>
          <a:xfrm>
            <a:off x="914400" y="4087368"/>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5"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More weight memory</a:t>
            </a:r>
          </a:p>
        </p:txBody>
      </p:sp>
      <p:sp>
        <p:nvSpPr>
          <p:cNvPr id="17" name="Oval 16"/>
          <p:cNvSpPr/>
          <p:nvPr/>
        </p:nvSpPr>
        <p:spPr>
          <a:xfrm>
            <a:off x="914400" y="4745736"/>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5"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Reference-quality artifact</a:t>
            </a:r>
          </a:p>
        </p:txBody>
      </p:sp>
      <p:sp>
        <p:nvSpPr>
          <p:cNvPr id="19" name="Rounded Rectangle 18"/>
          <p:cNvSpPr/>
          <p:nvPr/>
        </p:nvSpPr>
        <p:spPr>
          <a:xfrm>
            <a:off x="6291072" y="1975104"/>
            <a:ext cx="5330952" cy="38862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A778FF"/>
                </a:solidFill>
                <a:latin typeface="Aptos"/>
              </a:rPr>
              <a:t>PRACTICAL</a:t>
            </a:r>
          </a:p>
        </p:txBody>
      </p:sp>
      <p:sp>
        <p:nvSpPr>
          <p:cNvPr id="21" name="TextBox 20"/>
          <p:cNvSpPr txBox="1"/>
          <p:nvPr/>
        </p:nvSpPr>
        <p:spPr>
          <a:xfrm>
            <a:off x="6611112"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Q4-STYLE</a:t>
            </a:r>
          </a:p>
        </p:txBody>
      </p:sp>
      <p:sp>
        <p:nvSpPr>
          <p:cNvPr id="22" name="Oval 21"/>
          <p:cNvSpPr/>
          <p:nvPr/>
        </p:nvSpPr>
        <p:spPr>
          <a:xfrm>
            <a:off x="6638544" y="3429000"/>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Much smaller weight storage</a:t>
            </a:r>
          </a:p>
        </p:txBody>
      </p:sp>
      <p:sp>
        <p:nvSpPr>
          <p:cNvPr id="24" name="Oval 23"/>
          <p:cNvSpPr/>
          <p:nvPr/>
        </p:nvSpPr>
        <p:spPr>
          <a:xfrm>
            <a:off x="6638544" y="4087368"/>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Often faster on local hardware</a:t>
            </a:r>
          </a:p>
        </p:txBody>
      </p:sp>
      <p:sp>
        <p:nvSpPr>
          <p:cNvPr id="26" name="Oval 25"/>
          <p:cNvSpPr/>
          <p:nvPr/>
        </p:nvSpPr>
        <p:spPr>
          <a:xfrm>
            <a:off x="6638544" y="4745736"/>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Some task-dependent quality loss</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15</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TOKENS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The model does not see words the way you do</a:t>
            </a:r>
          </a:p>
        </p:txBody>
      </p:sp>
      <p:sp>
        <p:nvSpPr>
          <p:cNvPr id="10" name="Rounded Rectangle 9"/>
          <p:cNvSpPr/>
          <p:nvPr/>
        </p:nvSpPr>
        <p:spPr>
          <a:xfrm>
            <a:off x="640080" y="2331720"/>
            <a:ext cx="1042415" cy="749808"/>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1042415"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The</a:t>
            </a:r>
          </a:p>
        </p:txBody>
      </p:sp>
      <p:sp>
        <p:nvSpPr>
          <p:cNvPr id="12" name="Rounded Rectangle 11"/>
          <p:cNvSpPr/>
          <p:nvPr/>
        </p:nvSpPr>
        <p:spPr>
          <a:xfrm>
            <a:off x="1828799" y="2331720"/>
            <a:ext cx="1700784" cy="749808"/>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799" y="2331720"/>
            <a:ext cx="1700784"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driver</a:t>
            </a:r>
          </a:p>
        </p:txBody>
      </p:sp>
      <p:sp>
        <p:nvSpPr>
          <p:cNvPr id="14" name="Rounded Rectangle 13"/>
          <p:cNvSpPr/>
          <p:nvPr/>
        </p:nvSpPr>
        <p:spPr>
          <a:xfrm>
            <a:off x="3675887" y="2331720"/>
            <a:ext cx="1261872" cy="749808"/>
          </a:xfrm>
          <a:prstGeom prst="roundRect">
            <a:avLst/>
          </a:prstGeom>
          <a:solidFill>
            <a:srgbClr val="4C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5887" y="2331720"/>
            <a:ext cx="1261872"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said</a:t>
            </a:r>
          </a:p>
        </p:txBody>
      </p:sp>
      <p:sp>
        <p:nvSpPr>
          <p:cNvPr id="16" name="Rounded Rectangle 15"/>
          <p:cNvSpPr/>
          <p:nvPr/>
        </p:nvSpPr>
        <p:spPr>
          <a:xfrm>
            <a:off x="5084064" y="2331720"/>
            <a:ext cx="603503" cy="749808"/>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64" y="2331720"/>
            <a:ext cx="603503"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a:t>
            </a:r>
          </a:p>
        </p:txBody>
      </p:sp>
      <p:sp>
        <p:nvSpPr>
          <p:cNvPr id="18" name="Rounded Rectangle 17"/>
          <p:cNvSpPr/>
          <p:nvPr/>
        </p:nvSpPr>
        <p:spPr>
          <a:xfrm>
            <a:off x="5833872" y="2331720"/>
            <a:ext cx="1042415" cy="749808"/>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33872" y="2331720"/>
            <a:ext cx="1042415"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let</a:t>
            </a:r>
          </a:p>
        </p:txBody>
      </p:sp>
      <p:sp>
        <p:nvSpPr>
          <p:cNvPr id="20" name="Rounded Rectangle 19"/>
          <p:cNvSpPr/>
          <p:nvPr/>
        </p:nvSpPr>
        <p:spPr>
          <a:xfrm>
            <a:off x="7022592" y="2331720"/>
            <a:ext cx="822959" cy="749808"/>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2331720"/>
            <a:ext cx="822959"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's</a:t>
            </a:r>
          </a:p>
        </p:txBody>
      </p:sp>
      <p:sp>
        <p:nvSpPr>
          <p:cNvPr id="22" name="Rounded Rectangle 21"/>
          <p:cNvSpPr/>
          <p:nvPr/>
        </p:nvSpPr>
        <p:spPr>
          <a:xfrm>
            <a:off x="7991856" y="2331720"/>
            <a:ext cx="822959" cy="749808"/>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6" y="2331720"/>
            <a:ext cx="822959"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go</a:t>
            </a:r>
          </a:p>
        </p:txBody>
      </p:sp>
      <p:sp>
        <p:nvSpPr>
          <p:cNvPr id="24" name="Rounded Rectangle 23"/>
          <p:cNvSpPr/>
          <p:nvPr/>
        </p:nvSpPr>
        <p:spPr>
          <a:xfrm>
            <a:off x="8961120" y="2331720"/>
            <a:ext cx="603503" cy="749808"/>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2331720"/>
            <a:ext cx="603503"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a:t>
            </a:r>
          </a:p>
        </p:txBody>
      </p:sp>
      <p:sp>
        <p:nvSpPr>
          <p:cNvPr id="26" name="Rounded Rectangle 25"/>
          <p:cNvSpPr/>
          <p:nvPr/>
        </p:nvSpPr>
        <p:spPr>
          <a:xfrm>
            <a:off x="9710928" y="2331720"/>
            <a:ext cx="603503" cy="749808"/>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10928" y="2331720"/>
            <a:ext cx="603503" cy="74980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800" b="1">
                <a:solidFill>
                  <a:srgbClr val="081022"/>
                </a:solidFill>
                <a:latin typeface="Aptos"/>
              </a:rPr>
              <a:t>!</a:t>
            </a:r>
          </a:p>
        </p:txBody>
      </p:sp>
      <p:sp>
        <p:nvSpPr>
          <p:cNvPr id="28" name="TextBox 27"/>
          <p:cNvSpPr txBox="1"/>
          <p:nvPr/>
        </p:nvSpPr>
        <p:spPr>
          <a:xfrm>
            <a:off x="914400" y="3886200"/>
            <a:ext cx="10424160" cy="566928"/>
          </a:xfrm>
          <a:prstGeom prst="rect">
            <a:avLst/>
          </a:prstGeom>
          <a:noFill/>
        </p:spPr>
        <p:txBody>
          <a:bodyPr wrap="square" lIns="0" rIns="0" tIns="0" bIns="0" anchor="t">
            <a:spAutoFit/>
          </a:bodyPr>
          <a:lstStyle/>
          <a:p>
            <a:pPr algn="ctr">
              <a:spcBef>
                <a:spcPts val="0"/>
              </a:spcBef>
              <a:spcAft>
                <a:spcPts val="0"/>
              </a:spcAft>
            </a:pPr>
            <a:r>
              <a:rPr sz="2300" b="0">
                <a:solidFill>
                  <a:srgbClr val="D7E2F2"/>
                </a:solidFill>
                <a:latin typeface="Aptos"/>
              </a:rPr>
              <a:t>Rough English estimate: </a:t>
            </a:r>
            <a:r>
              <a:rPr sz="2300" b="1">
                <a:solidFill>
                  <a:srgbClr val="A778FF"/>
                </a:solidFill>
                <a:latin typeface="Aptos"/>
              </a:rPr>
              <a:t>1 token</a:t>
            </a:r>
            <a:r>
              <a:rPr sz="2300" b="0">
                <a:solidFill>
                  <a:srgbClr val="D7E2F2"/>
                </a:solidFill>
                <a:latin typeface="Aptos"/>
              </a:rPr>
              <a:t> is about </a:t>
            </a:r>
            <a:r>
              <a:rPr sz="2300" b="1">
                <a:solidFill>
                  <a:srgbClr val="2DE2E6"/>
                </a:solidFill>
                <a:latin typeface="Aptos"/>
              </a:rPr>
              <a:t>4 characters</a:t>
            </a:r>
            <a:r>
              <a:rPr sz="2300" b="0">
                <a:solidFill>
                  <a:srgbClr val="D7E2F2"/>
                </a:solidFill>
                <a:latin typeface="Aptos"/>
              </a:rPr>
              <a:t> or </a:t>
            </a:r>
            <a:r>
              <a:rPr sz="2300" b="1">
                <a:solidFill>
                  <a:srgbClr val="FFC857"/>
                </a:solidFill>
                <a:latin typeface="Aptos"/>
              </a:rPr>
              <a:t>0.75 words</a:t>
            </a:r>
          </a:p>
        </p:txBody>
      </p:sp>
      <p:sp>
        <p:nvSpPr>
          <p:cNvPr id="29" name="TextBox 28"/>
          <p:cNvSpPr txBox="1"/>
          <p:nvPr/>
        </p:nvSpPr>
        <p:spPr>
          <a:xfrm>
            <a:off x="1097280" y="4800600"/>
            <a:ext cx="9966960" cy="50292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900" b="1">
                <a:solidFill>
                  <a:srgbClr val="F7FAFF"/>
                </a:solidFill>
                <a:latin typeface="Aptos"/>
              </a:rPr>
              <a:t>Limits, speed, and context are measured in tokens - not words.</a:t>
            </a:r>
          </a:p>
        </p:txBody>
      </p:sp>
      <p:sp>
        <p:nvSpPr>
          <p:cNvPr id="30" name="TextBox 29"/>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31" name="TextBox 30"/>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16</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INFERENCE</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What happens when you type a prompt</a:t>
            </a:r>
          </a:p>
        </p:txBody>
      </p:sp>
      <p:sp>
        <p:nvSpPr>
          <p:cNvPr id="10" name="Rounded Rectangle 9"/>
          <p:cNvSpPr/>
          <p:nvPr/>
        </p:nvSpPr>
        <p:spPr>
          <a:xfrm>
            <a:off x="585216" y="2331720"/>
            <a:ext cx="2035454"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TOKENS</a:t>
            </a:r>
          </a:p>
        </p:txBody>
      </p:sp>
      <p:sp>
        <p:nvSpPr>
          <p:cNvPr id="15" name="TextBox 14"/>
          <p:cNvSpPr txBox="1"/>
          <p:nvPr/>
        </p:nvSpPr>
        <p:spPr>
          <a:xfrm>
            <a:off x="877824"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Text becomes token IDs.</a:t>
            </a:r>
          </a:p>
        </p:txBody>
      </p:sp>
      <p:cxnSp>
        <p:nvCxnSpPr>
          <p:cNvPr id="16" name="Connector 15"/>
          <p:cNvCxnSpPr/>
          <p:nvPr/>
        </p:nvCxnSpPr>
        <p:spPr>
          <a:xfrm>
            <a:off x="263895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30982" y="2331720"/>
            <a:ext cx="2035454"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0982"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87014"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701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3699662"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RUN THE MATH</a:t>
            </a:r>
          </a:p>
        </p:txBody>
      </p:sp>
      <p:sp>
        <p:nvSpPr>
          <p:cNvPr id="22" name="TextBox 21"/>
          <p:cNvSpPr txBox="1"/>
          <p:nvPr/>
        </p:nvSpPr>
        <p:spPr>
          <a:xfrm>
            <a:off x="3123590"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The architecture applies the learned weights.</a:t>
            </a:r>
          </a:p>
        </p:txBody>
      </p:sp>
      <p:cxnSp>
        <p:nvCxnSpPr>
          <p:cNvPr id="23" name="Connector 22"/>
          <p:cNvCxnSpPr/>
          <p:nvPr/>
        </p:nvCxnSpPr>
        <p:spPr>
          <a:xfrm>
            <a:off x="4884724"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76748" y="2331720"/>
            <a:ext cx="2035454"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6748"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32780"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2780"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5945428"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SCORE</a:t>
            </a:r>
          </a:p>
        </p:txBody>
      </p:sp>
      <p:sp>
        <p:nvSpPr>
          <p:cNvPr id="29" name="TextBox 28"/>
          <p:cNvSpPr txBox="1"/>
          <p:nvPr/>
        </p:nvSpPr>
        <p:spPr>
          <a:xfrm>
            <a:off x="5369356"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Every possible next token receives a score.</a:t>
            </a:r>
          </a:p>
        </p:txBody>
      </p:sp>
      <p:cxnSp>
        <p:nvCxnSpPr>
          <p:cNvPr id="30" name="Connector 29"/>
          <p:cNvCxnSpPr/>
          <p:nvPr/>
        </p:nvCxnSpPr>
        <p:spPr>
          <a:xfrm>
            <a:off x="7130491"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22515" y="2331720"/>
            <a:ext cx="2035454"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22515"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78547"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8547"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81911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CHOOSE</a:t>
            </a:r>
          </a:p>
        </p:txBody>
      </p:sp>
      <p:sp>
        <p:nvSpPr>
          <p:cNvPr id="36" name="TextBox 35"/>
          <p:cNvSpPr txBox="1"/>
          <p:nvPr/>
        </p:nvSpPr>
        <p:spPr>
          <a:xfrm>
            <a:off x="7615123"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The system selects one token.</a:t>
            </a:r>
          </a:p>
        </p:txBody>
      </p:sp>
      <p:cxnSp>
        <p:nvCxnSpPr>
          <p:cNvPr id="37" name="Connector 36"/>
          <p:cNvCxnSpPr/>
          <p:nvPr/>
        </p:nvCxnSpPr>
        <p:spPr>
          <a:xfrm>
            <a:off x="9376257"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68281" y="2331720"/>
            <a:ext cx="2035454" cy="2514600"/>
          </a:xfrm>
          <a:prstGeom prst="roundRect">
            <a:avLst/>
          </a:prstGeom>
          <a:solidFill>
            <a:srgbClr val="142442"/>
          </a:solidFill>
          <a:ln w="19050">
            <a:solidFill>
              <a:srgbClr val="55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68281" y="2331720"/>
            <a:ext cx="73152" cy="2514600"/>
          </a:xfrm>
          <a:prstGeom prst="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824313" y="2587752"/>
            <a:ext cx="475488" cy="420624"/>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4313"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5</a:t>
            </a:r>
          </a:p>
        </p:txBody>
      </p:sp>
      <p:sp>
        <p:nvSpPr>
          <p:cNvPr id="42" name="TextBox 41"/>
          <p:cNvSpPr txBox="1"/>
          <p:nvPr/>
        </p:nvSpPr>
        <p:spPr>
          <a:xfrm>
            <a:off x="10436961"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LOOP</a:t>
            </a:r>
          </a:p>
        </p:txBody>
      </p:sp>
      <p:sp>
        <p:nvSpPr>
          <p:cNvPr id="43" name="TextBox 42"/>
          <p:cNvSpPr txBox="1"/>
          <p:nvPr/>
        </p:nvSpPr>
        <p:spPr>
          <a:xfrm>
            <a:off x="9860889"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Append it and repeat.</a:t>
            </a:r>
          </a:p>
        </p:txBody>
      </p:sp>
      <p:sp>
        <p:nvSpPr>
          <p:cNvPr id="44" name="Rounded Rectangle 43"/>
          <p:cNvSpPr/>
          <p:nvPr/>
        </p:nvSpPr>
        <p:spPr>
          <a:xfrm>
            <a:off x="1051560" y="5230368"/>
            <a:ext cx="10104120" cy="566928"/>
          </a:xfrm>
          <a:prstGeom prst="roundRect">
            <a:avLst/>
          </a:prstGeom>
          <a:solidFill>
            <a:srgbClr val="0E1A33"/>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One answer is built one token at a time.</a:t>
            </a:r>
          </a:p>
        </p:txBody>
      </p:sp>
      <p:sp>
        <p:nvSpPr>
          <p:cNvPr id="46" name="TextBox 4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7" name="TextBox 4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17</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GENERATION</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How one answer gets built</a:t>
            </a:r>
          </a:p>
        </p:txBody>
      </p:sp>
      <p:sp>
        <p:nvSpPr>
          <p:cNvPr id="10" name="Rounded Rectangle 9"/>
          <p:cNvSpPr/>
          <p:nvPr/>
        </p:nvSpPr>
        <p:spPr>
          <a:xfrm>
            <a:off x="585216" y="2331720"/>
            <a:ext cx="2035454"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CONTEXT IN</a:t>
            </a:r>
          </a:p>
        </p:txBody>
      </p:sp>
      <p:sp>
        <p:nvSpPr>
          <p:cNvPr id="15" name="TextBox 14"/>
          <p:cNvSpPr txBox="1"/>
          <p:nvPr/>
        </p:nvSpPr>
        <p:spPr>
          <a:xfrm>
            <a:off x="877824"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Take the conversation so far.</a:t>
            </a:r>
          </a:p>
        </p:txBody>
      </p:sp>
      <p:cxnSp>
        <p:nvCxnSpPr>
          <p:cNvPr id="16" name="Connector 15"/>
          <p:cNvCxnSpPr/>
          <p:nvPr/>
        </p:nvCxnSpPr>
        <p:spPr>
          <a:xfrm>
            <a:off x="263895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30982" y="2331720"/>
            <a:ext cx="2035454"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0982"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87014"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701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3699662"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SCORES OUT</a:t>
            </a:r>
          </a:p>
        </p:txBody>
      </p:sp>
      <p:sp>
        <p:nvSpPr>
          <p:cNvPr id="22" name="TextBox 21"/>
          <p:cNvSpPr txBox="1"/>
          <p:nvPr/>
        </p:nvSpPr>
        <p:spPr>
          <a:xfrm>
            <a:off x="3123590"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Produce a score for every token.</a:t>
            </a:r>
          </a:p>
        </p:txBody>
      </p:sp>
      <p:cxnSp>
        <p:nvCxnSpPr>
          <p:cNvPr id="23" name="Connector 22"/>
          <p:cNvCxnSpPr/>
          <p:nvPr/>
        </p:nvCxnSpPr>
        <p:spPr>
          <a:xfrm>
            <a:off x="4884724"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76748" y="2331720"/>
            <a:ext cx="2035454"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6748"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32780"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2780"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5945428"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CHOOSE ONE</a:t>
            </a:r>
          </a:p>
        </p:txBody>
      </p:sp>
      <p:sp>
        <p:nvSpPr>
          <p:cNvPr id="29" name="TextBox 28"/>
          <p:cNvSpPr txBox="1"/>
          <p:nvPr/>
        </p:nvSpPr>
        <p:spPr>
          <a:xfrm>
            <a:off x="5369356"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Use decoding rules to select a token.</a:t>
            </a:r>
          </a:p>
        </p:txBody>
      </p:sp>
      <p:cxnSp>
        <p:nvCxnSpPr>
          <p:cNvPr id="30" name="Connector 29"/>
          <p:cNvCxnSpPr/>
          <p:nvPr/>
        </p:nvCxnSpPr>
        <p:spPr>
          <a:xfrm>
            <a:off x="7130491"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22515" y="2331720"/>
            <a:ext cx="2035454"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22515"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78547"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8547"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81911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FEED IT BACK</a:t>
            </a:r>
          </a:p>
        </p:txBody>
      </p:sp>
      <p:sp>
        <p:nvSpPr>
          <p:cNvPr id="36" name="TextBox 35"/>
          <p:cNvSpPr txBox="1"/>
          <p:nvPr/>
        </p:nvSpPr>
        <p:spPr>
          <a:xfrm>
            <a:off x="7615123"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Add the token to the context.</a:t>
            </a:r>
          </a:p>
        </p:txBody>
      </p:sp>
      <p:cxnSp>
        <p:nvCxnSpPr>
          <p:cNvPr id="37" name="Connector 36"/>
          <p:cNvCxnSpPr/>
          <p:nvPr/>
        </p:nvCxnSpPr>
        <p:spPr>
          <a:xfrm>
            <a:off x="9376257"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68281" y="2331720"/>
            <a:ext cx="2035454" cy="2514600"/>
          </a:xfrm>
          <a:prstGeom prst="roundRect">
            <a:avLst/>
          </a:prstGeom>
          <a:solidFill>
            <a:srgbClr val="142442"/>
          </a:solidFill>
          <a:ln w="19050">
            <a:solidFill>
              <a:srgbClr val="55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68281" y="2331720"/>
            <a:ext cx="73152" cy="2514600"/>
          </a:xfrm>
          <a:prstGeom prst="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824313" y="2587752"/>
            <a:ext cx="475488" cy="420624"/>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4313"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5</a:t>
            </a:r>
          </a:p>
        </p:txBody>
      </p:sp>
      <p:sp>
        <p:nvSpPr>
          <p:cNvPr id="42" name="TextBox 41"/>
          <p:cNvSpPr txBox="1"/>
          <p:nvPr/>
        </p:nvSpPr>
        <p:spPr>
          <a:xfrm>
            <a:off x="10436961"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STOP</a:t>
            </a:r>
          </a:p>
        </p:txBody>
      </p:sp>
      <p:sp>
        <p:nvSpPr>
          <p:cNvPr id="43" name="TextBox 42"/>
          <p:cNvSpPr txBox="1"/>
          <p:nvPr/>
        </p:nvSpPr>
        <p:spPr>
          <a:xfrm>
            <a:off x="9860889"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End when a stop condition is reached.</a:t>
            </a:r>
          </a:p>
        </p:txBody>
      </p:sp>
      <p:sp>
        <p:nvSpPr>
          <p:cNvPr id="44" name="Rounded Rectangle 43"/>
          <p:cNvSpPr/>
          <p:nvPr/>
        </p:nvSpPr>
        <p:spPr>
          <a:xfrm>
            <a:off x="1051560" y="5230368"/>
            <a:ext cx="10104120" cy="566928"/>
          </a:xfrm>
          <a:prstGeom prst="roundRect">
            <a:avLst/>
          </a:prstGeom>
          <a:solidFill>
            <a:srgbClr val="0E1A33"/>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Learned numbers + token vocabulary + repeated prediction.</a:t>
            </a:r>
          </a:p>
        </p:txBody>
      </p:sp>
      <p:sp>
        <p:nvSpPr>
          <p:cNvPr id="46" name="TextBox 4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7" name="TextBox 4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594360"/>
            <a:ext cx="201168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A778FF"/>
                </a:solidFill>
                <a:latin typeface="Aptos"/>
              </a:rPr>
              <a:t>ACT 2</a:t>
            </a:r>
          </a:p>
        </p:txBody>
      </p:sp>
      <p:sp>
        <p:nvSpPr>
          <p:cNvPr id="7" name="TextBox 6"/>
          <p:cNvSpPr txBox="1"/>
          <p:nvPr/>
        </p:nvSpPr>
        <p:spPr>
          <a:xfrm>
            <a:off x="640080" y="1234440"/>
            <a:ext cx="10789920" cy="11887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400" b="1">
                <a:solidFill>
                  <a:srgbClr val="F7FAFF"/>
                </a:solidFill>
                <a:latin typeface="Bahnschrift SemiBold"/>
              </a:rPr>
              <a:t>Context and truth</a:t>
            </a:r>
          </a:p>
        </p:txBody>
      </p:sp>
      <p:sp>
        <p:nvSpPr>
          <p:cNvPr id="8" name="TextBox 7"/>
          <p:cNvSpPr txBox="1"/>
          <p:nvPr/>
        </p:nvSpPr>
        <p:spPr>
          <a:xfrm>
            <a:off x="676656" y="2697480"/>
            <a:ext cx="9966960" cy="7315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300" b="0">
                <a:solidFill>
                  <a:srgbClr val="D7E2F2"/>
                </a:solidFill>
                <a:latin typeface="Aptos"/>
              </a:rPr>
              <a:t>What the model can see, what it cannot know, and why fluent can still be wrong</a:t>
            </a:r>
          </a:p>
        </p:txBody>
      </p:sp>
      <p:sp>
        <p:nvSpPr>
          <p:cNvPr id="9" name="TextBox 8"/>
          <p:cNvSpPr txBox="1"/>
          <p:nvPr/>
        </p:nvSpPr>
        <p:spPr>
          <a:xfrm>
            <a:off x="8641080" y="3794760"/>
            <a:ext cx="2514600" cy="1508760"/>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200" b="1">
                <a:solidFill>
                  <a:srgbClr val="A778FF"/>
                </a:solidFill>
                <a:latin typeface="Bahnschrift SemiBold"/>
              </a:rPr>
              <a:t>02</a:t>
            </a:r>
          </a:p>
        </p:txBody>
      </p:sp>
      <p:sp>
        <p:nvSpPr>
          <p:cNvPr id="10" name="Rectangle 9"/>
          <p:cNvSpPr/>
          <p:nvPr/>
        </p:nvSpPr>
        <p:spPr>
          <a:xfrm>
            <a:off x="8183879" y="5376672"/>
            <a:ext cx="2651760" cy="54864"/>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5559552"/>
            <a:ext cx="2011680" cy="54864"/>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3879" y="5742432"/>
            <a:ext cx="1371600" cy="54864"/>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19</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CONTEXT</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A finite desk, not permanent memory</a:t>
            </a:r>
          </a:p>
        </p:txBody>
      </p:sp>
      <p:sp>
        <p:nvSpPr>
          <p:cNvPr id="10" name="Rounded Rectangle 9"/>
          <p:cNvSpPr/>
          <p:nvPr/>
        </p:nvSpPr>
        <p:spPr>
          <a:xfrm>
            <a:off x="777240" y="1965960"/>
            <a:ext cx="10607040" cy="333756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212848"/>
            <a:ext cx="2834640" cy="320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1">
                <a:solidFill>
                  <a:srgbClr val="A778FF"/>
                </a:solidFill>
                <a:latin typeface="Aptos"/>
              </a:rPr>
              <a:t>CONTEXT WINDOW</a:t>
            </a:r>
          </a:p>
        </p:txBody>
      </p:sp>
      <p:sp>
        <p:nvSpPr>
          <p:cNvPr id="12" name="Rounded Rectangle 11"/>
          <p:cNvSpPr/>
          <p:nvPr/>
        </p:nvSpPr>
        <p:spPr>
          <a:xfrm>
            <a:off x="1078992" y="2816352"/>
            <a:ext cx="1508760" cy="105156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2816352"/>
            <a:ext cx="1508760" cy="10515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SYSTEM</a:t>
            </a:r>
          </a:p>
        </p:txBody>
      </p:sp>
      <p:sp>
        <p:nvSpPr>
          <p:cNvPr id="14" name="Rounded Rectangle 13"/>
          <p:cNvSpPr/>
          <p:nvPr/>
        </p:nvSpPr>
        <p:spPr>
          <a:xfrm>
            <a:off x="2743200" y="2816352"/>
            <a:ext cx="2011680" cy="1051560"/>
          </a:xfrm>
          <a:prstGeom prst="roundRect">
            <a:avLst/>
          </a:prstGeom>
          <a:solidFill>
            <a:srgbClr val="4C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2816352"/>
            <a:ext cx="2011680" cy="10515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HISTORY</a:t>
            </a:r>
          </a:p>
        </p:txBody>
      </p:sp>
      <p:sp>
        <p:nvSpPr>
          <p:cNvPr id="16" name="Rounded Rectangle 15"/>
          <p:cNvSpPr/>
          <p:nvPr/>
        </p:nvSpPr>
        <p:spPr>
          <a:xfrm>
            <a:off x="4910328" y="2816352"/>
            <a:ext cx="1508760" cy="1051560"/>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0328" y="2816352"/>
            <a:ext cx="1508760" cy="10515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FILES</a:t>
            </a:r>
          </a:p>
        </p:txBody>
      </p:sp>
      <p:sp>
        <p:nvSpPr>
          <p:cNvPr id="18" name="Rounded Rectangle 17"/>
          <p:cNvSpPr/>
          <p:nvPr/>
        </p:nvSpPr>
        <p:spPr>
          <a:xfrm>
            <a:off x="6574536" y="2816352"/>
            <a:ext cx="1508760" cy="105156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2816352"/>
            <a:ext cx="1508760" cy="10515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TOOLS</a:t>
            </a:r>
          </a:p>
        </p:txBody>
      </p:sp>
      <p:sp>
        <p:nvSpPr>
          <p:cNvPr id="20" name="Rounded Rectangle 19"/>
          <p:cNvSpPr/>
          <p:nvPr/>
        </p:nvSpPr>
        <p:spPr>
          <a:xfrm>
            <a:off x="8238744" y="2816352"/>
            <a:ext cx="1965960" cy="105156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816352"/>
            <a:ext cx="1965960" cy="10515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YOUR ASK</a:t>
            </a:r>
          </a:p>
        </p:txBody>
      </p:sp>
      <p:sp>
        <p:nvSpPr>
          <p:cNvPr id="22" name="TextBox 21"/>
          <p:cNvSpPr txBox="1"/>
          <p:nvPr/>
        </p:nvSpPr>
        <p:spPr>
          <a:xfrm>
            <a:off x="1051560" y="4343400"/>
            <a:ext cx="9966960" cy="47548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800" b="1">
                <a:solidFill>
                  <a:srgbClr val="F7FAFF"/>
                </a:solidFill>
                <a:latin typeface="Aptos"/>
              </a:rPr>
              <a:t>When the desk fills: compress, retrieve selectively, or drop older detail.</a:t>
            </a:r>
          </a:p>
        </p:txBody>
      </p:sp>
      <p:sp>
        <p:nvSpPr>
          <p:cNvPr id="23" name="TextBox 22"/>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4" name="TextBox 23"/>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20</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CONTEXT</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Why did it forget Bob?</a:t>
            </a:r>
          </a:p>
        </p:txBody>
      </p:sp>
      <p:sp>
        <p:nvSpPr>
          <p:cNvPr id="10" name="Oval 9"/>
          <p:cNvSpPr/>
          <p:nvPr/>
        </p:nvSpPr>
        <p:spPr>
          <a:xfrm>
            <a:off x="1207007" y="2331720"/>
            <a:ext cx="621792" cy="6217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7" y="2331720"/>
            <a:ext cx="621792" cy="62179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1</a:t>
            </a:r>
          </a:p>
        </p:txBody>
      </p:sp>
      <p:sp>
        <p:nvSpPr>
          <p:cNvPr id="12" name="TextBox 11"/>
          <p:cNvSpPr txBox="1"/>
          <p:nvPr/>
        </p:nvSpPr>
        <p:spPr>
          <a:xfrm>
            <a:off x="548640" y="3127248"/>
            <a:ext cx="1956816" cy="38404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You say</a:t>
            </a:r>
          </a:p>
        </p:txBody>
      </p:sp>
      <p:sp>
        <p:nvSpPr>
          <p:cNvPr id="13" name="TextBox 12"/>
          <p:cNvSpPr txBox="1"/>
          <p:nvPr/>
        </p:nvSpPr>
        <p:spPr>
          <a:xfrm>
            <a:off x="548640" y="3639312"/>
            <a:ext cx="1956816" cy="11430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0">
                <a:solidFill>
                  <a:srgbClr val="D7E2F2"/>
                </a:solidFill>
                <a:latin typeface="Aptos"/>
              </a:rPr>
              <a:t>"My name is Bob."</a:t>
            </a:r>
          </a:p>
        </p:txBody>
      </p:sp>
      <p:cxnSp>
        <p:nvCxnSpPr>
          <p:cNvPr id="14" name="Connector 13"/>
          <p:cNvCxnSpPr/>
          <p:nvPr/>
        </p:nvCxnSpPr>
        <p:spPr>
          <a:xfrm>
            <a:off x="2039112" y="2651760"/>
            <a:ext cx="722376" cy="0"/>
          </a:xfrm>
          <a:prstGeom prst="line">
            <a:avLst/>
          </a:prstGeom>
          <a:ln w="17780">
            <a:solidFill>
              <a:srgbClr val="8FA4C2"/>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511296" y="2331720"/>
            <a:ext cx="621792" cy="621792"/>
          </a:xfrm>
          <a:prstGeom prst="ellipse">
            <a:avLst/>
          </a:prstGeom>
          <a:solidFill>
            <a:srgbClr val="4C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2331720"/>
            <a:ext cx="621792" cy="62179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2</a:t>
            </a:r>
          </a:p>
        </p:txBody>
      </p:sp>
      <p:sp>
        <p:nvSpPr>
          <p:cNvPr id="17" name="TextBox 16"/>
          <p:cNvSpPr txBox="1"/>
          <p:nvPr/>
        </p:nvSpPr>
        <p:spPr>
          <a:xfrm>
            <a:off x="2852928" y="3127248"/>
            <a:ext cx="1956816" cy="38404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Hours of coding</a:t>
            </a:r>
          </a:p>
        </p:txBody>
      </p:sp>
      <p:sp>
        <p:nvSpPr>
          <p:cNvPr id="18" name="TextBox 17"/>
          <p:cNvSpPr txBox="1"/>
          <p:nvPr/>
        </p:nvSpPr>
        <p:spPr>
          <a:xfrm>
            <a:off x="2852928" y="3639312"/>
            <a:ext cx="1956816" cy="11430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0">
                <a:solidFill>
                  <a:srgbClr val="D7E2F2"/>
                </a:solidFill>
                <a:latin typeface="Aptos"/>
              </a:rPr>
              <a:t>Errors, fixes, files, decisions...</a:t>
            </a:r>
          </a:p>
        </p:txBody>
      </p:sp>
      <p:cxnSp>
        <p:nvCxnSpPr>
          <p:cNvPr id="19" name="Connector 18"/>
          <p:cNvCxnSpPr/>
          <p:nvPr/>
        </p:nvCxnSpPr>
        <p:spPr>
          <a:xfrm>
            <a:off x="4343400" y="2651760"/>
            <a:ext cx="722376" cy="0"/>
          </a:xfrm>
          <a:prstGeom prst="line">
            <a:avLst/>
          </a:prstGeom>
          <a:ln w="17780">
            <a:solidFill>
              <a:srgbClr val="8FA4C2"/>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815583" y="2331720"/>
            <a:ext cx="621792" cy="6217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15583" y="2331720"/>
            <a:ext cx="621792" cy="62179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3</a:t>
            </a:r>
          </a:p>
        </p:txBody>
      </p:sp>
      <p:sp>
        <p:nvSpPr>
          <p:cNvPr id="22" name="TextBox 21"/>
          <p:cNvSpPr txBox="1"/>
          <p:nvPr/>
        </p:nvSpPr>
        <p:spPr>
          <a:xfrm>
            <a:off x="5157216" y="3127248"/>
            <a:ext cx="1956816" cy="38404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Compression</a:t>
            </a:r>
          </a:p>
        </p:txBody>
      </p:sp>
      <p:sp>
        <p:nvSpPr>
          <p:cNvPr id="23" name="TextBox 22"/>
          <p:cNvSpPr txBox="1"/>
          <p:nvPr/>
        </p:nvSpPr>
        <p:spPr>
          <a:xfrm>
            <a:off x="5157216" y="3639312"/>
            <a:ext cx="1956816" cy="11430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0">
                <a:solidFill>
                  <a:srgbClr val="D7E2F2"/>
                </a:solidFill>
                <a:latin typeface="Aptos"/>
              </a:rPr>
              <a:t>Keep the project. Lose the small detail.</a:t>
            </a:r>
          </a:p>
        </p:txBody>
      </p:sp>
      <p:cxnSp>
        <p:nvCxnSpPr>
          <p:cNvPr id="24" name="Connector 23"/>
          <p:cNvCxnSpPr/>
          <p:nvPr/>
        </p:nvCxnSpPr>
        <p:spPr>
          <a:xfrm>
            <a:off x="6647688" y="2651760"/>
            <a:ext cx="722375" cy="0"/>
          </a:xfrm>
          <a:prstGeom prst="line">
            <a:avLst/>
          </a:prstGeom>
          <a:ln w="17780">
            <a:solidFill>
              <a:srgbClr val="8FA4C2"/>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119872" y="2331720"/>
            <a:ext cx="621792" cy="621792"/>
          </a:xfrm>
          <a:prstGeom prst="ellipse">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19872" y="2331720"/>
            <a:ext cx="621792" cy="62179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4</a:t>
            </a:r>
          </a:p>
        </p:txBody>
      </p:sp>
      <p:sp>
        <p:nvSpPr>
          <p:cNvPr id="27" name="TextBox 26"/>
          <p:cNvSpPr txBox="1"/>
          <p:nvPr/>
        </p:nvSpPr>
        <p:spPr>
          <a:xfrm>
            <a:off x="7461504" y="3127248"/>
            <a:ext cx="1956816" cy="38404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You ask again</a:t>
            </a:r>
          </a:p>
        </p:txBody>
      </p:sp>
      <p:sp>
        <p:nvSpPr>
          <p:cNvPr id="28" name="TextBox 27"/>
          <p:cNvSpPr txBox="1"/>
          <p:nvPr/>
        </p:nvSpPr>
        <p:spPr>
          <a:xfrm>
            <a:off x="7461504" y="3639312"/>
            <a:ext cx="1956816" cy="11430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0">
                <a:solidFill>
                  <a:srgbClr val="D7E2F2"/>
                </a:solidFill>
                <a:latin typeface="Aptos"/>
              </a:rPr>
              <a:t>"What is my name?"</a:t>
            </a:r>
          </a:p>
        </p:txBody>
      </p:sp>
      <p:cxnSp>
        <p:nvCxnSpPr>
          <p:cNvPr id="29" name="Connector 28"/>
          <p:cNvCxnSpPr/>
          <p:nvPr/>
        </p:nvCxnSpPr>
        <p:spPr>
          <a:xfrm>
            <a:off x="8951976" y="2651760"/>
            <a:ext cx="722376" cy="0"/>
          </a:xfrm>
          <a:prstGeom prst="line">
            <a:avLst/>
          </a:prstGeom>
          <a:ln w="17780">
            <a:solidFill>
              <a:srgbClr val="8FA4C2"/>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0424160" y="2331720"/>
            <a:ext cx="621792" cy="621792"/>
          </a:xfrm>
          <a:prstGeom prst="ellipse">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0" y="2331720"/>
            <a:ext cx="621792" cy="62179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5</a:t>
            </a:r>
          </a:p>
        </p:txBody>
      </p:sp>
      <p:sp>
        <p:nvSpPr>
          <p:cNvPr id="32" name="TextBox 31"/>
          <p:cNvSpPr txBox="1"/>
          <p:nvPr/>
        </p:nvSpPr>
        <p:spPr>
          <a:xfrm>
            <a:off x="9765792" y="3127248"/>
            <a:ext cx="1956816" cy="38404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No evidence</a:t>
            </a:r>
          </a:p>
        </p:txBody>
      </p:sp>
      <p:sp>
        <p:nvSpPr>
          <p:cNvPr id="33" name="TextBox 32"/>
          <p:cNvSpPr txBox="1"/>
          <p:nvPr/>
        </p:nvSpPr>
        <p:spPr>
          <a:xfrm>
            <a:off x="9765792" y="3639312"/>
            <a:ext cx="1956816" cy="11430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0">
                <a:solidFill>
                  <a:srgbClr val="D7E2F2"/>
                </a:solidFill>
                <a:latin typeface="Aptos"/>
              </a:rPr>
              <a:t>Bob is no longer in the supplied context.</a:t>
            </a:r>
          </a:p>
        </p:txBody>
      </p:sp>
      <p:sp>
        <p:nvSpPr>
          <p:cNvPr id="34" name="Rounded Rectangle 33"/>
          <p:cNvSpPr/>
          <p:nvPr/>
        </p:nvSpPr>
        <p:spPr>
          <a:xfrm>
            <a:off x="1874519" y="5239512"/>
            <a:ext cx="8458200" cy="530352"/>
          </a:xfrm>
          <a:prstGeom prst="roundRect">
            <a:avLst/>
          </a:prstGeom>
          <a:solidFill>
            <a:srgbClr val="0E1A33"/>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11680" y="5358384"/>
            <a:ext cx="8183879" cy="27432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1">
                <a:solidFill>
                  <a:srgbClr val="F7FAFF"/>
                </a:solidFill>
                <a:latin typeface="Aptos"/>
              </a:rPr>
              <a:t>"Remembering" means the system supplied the information again.</a:t>
            </a:r>
          </a:p>
        </p:txBody>
      </p:sp>
      <p:sp>
        <p:nvSpPr>
          <p:cNvPr id="36" name="TextBox 3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37" name="TextBox 3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21</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LONG CONTEXT</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Bigger window does not mean smarter model</a:t>
            </a:r>
          </a:p>
        </p:txBody>
      </p:sp>
      <p:sp>
        <p:nvSpPr>
          <p:cNvPr id="10" name="Rounded Rectangle 9"/>
          <p:cNvSpPr/>
          <p:nvPr/>
        </p:nvSpPr>
        <p:spPr>
          <a:xfrm>
            <a:off x="566928" y="2148840"/>
            <a:ext cx="3493008" cy="340156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48840"/>
            <a:ext cx="73152" cy="3401568"/>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240487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35607"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CAPACITY</a:t>
            </a:r>
          </a:p>
        </p:txBody>
      </p:sp>
      <p:sp>
        <p:nvSpPr>
          <p:cNvPr id="15" name="TextBox 14"/>
          <p:cNvSpPr txBox="1"/>
          <p:nvPr/>
        </p:nvSpPr>
        <p:spPr>
          <a:xfrm>
            <a:off x="859536"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The maximum number of prompt and output tokens that can fit.</a:t>
            </a:r>
          </a:p>
        </p:txBody>
      </p:sp>
      <p:sp>
        <p:nvSpPr>
          <p:cNvPr id="16" name="Rounded Rectangle 15"/>
          <p:cNvSpPr/>
          <p:nvPr/>
        </p:nvSpPr>
        <p:spPr>
          <a:xfrm>
            <a:off x="4389120" y="2148840"/>
            <a:ext cx="3493008" cy="3401568"/>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148840"/>
            <a:ext cx="73152" cy="3401568"/>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45152" y="240487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0" name="TextBox 19"/>
          <p:cNvSpPr txBox="1"/>
          <p:nvPr/>
        </p:nvSpPr>
        <p:spPr>
          <a:xfrm>
            <a:off x="5257800"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COST</a:t>
            </a:r>
          </a:p>
        </p:txBody>
      </p:sp>
      <p:sp>
        <p:nvSpPr>
          <p:cNvPr id="21" name="TextBox 20"/>
          <p:cNvSpPr txBox="1"/>
          <p:nvPr/>
        </p:nvSpPr>
        <p:spPr>
          <a:xfrm>
            <a:off x="4681728"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More context consumes memory and takes time to ingest.</a:t>
            </a:r>
          </a:p>
        </p:txBody>
      </p:sp>
      <p:sp>
        <p:nvSpPr>
          <p:cNvPr id="22" name="Rounded Rectangle 21"/>
          <p:cNvSpPr/>
          <p:nvPr/>
        </p:nvSpPr>
        <p:spPr>
          <a:xfrm>
            <a:off x="8211311" y="2148840"/>
            <a:ext cx="3493008" cy="3401568"/>
          </a:xfrm>
          <a:prstGeom prst="roundRect">
            <a:avLst/>
          </a:prstGeom>
          <a:solidFill>
            <a:srgbClr val="142442"/>
          </a:solidFill>
          <a:ln w="19050">
            <a:solidFill>
              <a:srgbClr val="4C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1" y="2148840"/>
            <a:ext cx="73152" cy="3401568"/>
          </a:xfrm>
          <a:prstGeom prst="rect">
            <a:avLst/>
          </a:prstGeom>
          <a:solidFill>
            <a:srgbClr val="4C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67343" y="2404872"/>
            <a:ext cx="475488" cy="420624"/>
          </a:xfrm>
          <a:prstGeom prst="roundRect">
            <a:avLst/>
          </a:prstGeom>
          <a:solidFill>
            <a:srgbClr val="4C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67343"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6" name="TextBox 25"/>
          <p:cNvSpPr txBox="1"/>
          <p:nvPr/>
        </p:nvSpPr>
        <p:spPr>
          <a:xfrm>
            <a:off x="9079991"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ATTENTION</a:t>
            </a:r>
          </a:p>
        </p:txBody>
      </p:sp>
      <p:sp>
        <p:nvSpPr>
          <p:cNvPr id="27" name="TextBox 26"/>
          <p:cNvSpPr txBox="1"/>
          <p:nvPr/>
        </p:nvSpPr>
        <p:spPr>
          <a:xfrm>
            <a:off x="8503919"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Even fitting information may not be used equally well everywhere.</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22</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CURRENT INFORMATION</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Stale at the core. Fresh at the edges.</a:t>
            </a:r>
          </a:p>
        </p:txBody>
      </p:sp>
      <p:sp>
        <p:nvSpPr>
          <p:cNvPr id="10" name="Rounded Rectangle 9"/>
          <p:cNvSpPr/>
          <p:nvPr/>
        </p:nvSpPr>
        <p:spPr>
          <a:xfrm>
            <a:off x="566928" y="1975104"/>
            <a:ext cx="5330952" cy="38862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2DE2E6"/>
                </a:solidFill>
                <a:latin typeface="Aptos"/>
              </a:rPr>
              <a:t>BAKED IN</a:t>
            </a:r>
          </a:p>
        </p:txBody>
      </p:sp>
      <p:sp>
        <p:nvSpPr>
          <p:cNvPr id="12" name="TextBox 11"/>
          <p:cNvSpPr txBox="1"/>
          <p:nvPr/>
        </p:nvSpPr>
        <p:spPr>
          <a:xfrm>
            <a:off x="886968"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TRAINED WEIGHTS</a:t>
            </a:r>
          </a:p>
        </p:txBody>
      </p:sp>
      <p:sp>
        <p:nvSpPr>
          <p:cNvPr id="13" name="Oval 12"/>
          <p:cNvSpPr/>
          <p:nvPr/>
        </p:nvSpPr>
        <p:spPr>
          <a:xfrm>
            <a:off x="914400" y="3429000"/>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5"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Fixed for that model version</a:t>
            </a:r>
          </a:p>
        </p:txBody>
      </p:sp>
      <p:sp>
        <p:nvSpPr>
          <p:cNvPr id="15" name="Oval 14"/>
          <p:cNvSpPr/>
          <p:nvPr/>
        </p:nvSpPr>
        <p:spPr>
          <a:xfrm>
            <a:off x="914400" y="4087368"/>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5"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Can be confidently stale</a:t>
            </a:r>
          </a:p>
        </p:txBody>
      </p:sp>
      <p:sp>
        <p:nvSpPr>
          <p:cNvPr id="17" name="Oval 16"/>
          <p:cNvSpPr/>
          <p:nvPr/>
        </p:nvSpPr>
        <p:spPr>
          <a:xfrm>
            <a:off x="914400" y="4745736"/>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5"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Your chat does not rewrite them</a:t>
            </a:r>
          </a:p>
        </p:txBody>
      </p:sp>
      <p:sp>
        <p:nvSpPr>
          <p:cNvPr id="19" name="Rounded Rectangle 18"/>
          <p:cNvSpPr/>
          <p:nvPr/>
        </p:nvSpPr>
        <p:spPr>
          <a:xfrm>
            <a:off x="6291072" y="1975104"/>
            <a:ext cx="5330952" cy="38862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A778FF"/>
                </a:solidFill>
                <a:latin typeface="Aptos"/>
              </a:rPr>
              <a:t>SUPPLIED NOW</a:t>
            </a:r>
          </a:p>
        </p:txBody>
      </p:sp>
      <p:sp>
        <p:nvSpPr>
          <p:cNvPr id="21" name="TextBox 20"/>
          <p:cNvSpPr txBox="1"/>
          <p:nvPr/>
        </p:nvSpPr>
        <p:spPr>
          <a:xfrm>
            <a:off x="6611112"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RUNTIME INPUT</a:t>
            </a:r>
          </a:p>
        </p:txBody>
      </p:sp>
      <p:sp>
        <p:nvSpPr>
          <p:cNvPr id="22" name="Oval 21"/>
          <p:cNvSpPr/>
          <p:nvPr/>
        </p:nvSpPr>
        <p:spPr>
          <a:xfrm>
            <a:off x="6638544" y="3429000"/>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Your prompt and files</a:t>
            </a:r>
          </a:p>
        </p:txBody>
      </p:sp>
      <p:sp>
        <p:nvSpPr>
          <p:cNvPr id="24" name="Oval 23"/>
          <p:cNvSpPr/>
          <p:nvPr/>
        </p:nvSpPr>
        <p:spPr>
          <a:xfrm>
            <a:off x="6638544" y="4087368"/>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Search and API results</a:t>
            </a:r>
          </a:p>
        </p:txBody>
      </p:sp>
      <p:sp>
        <p:nvSpPr>
          <p:cNvPr id="26" name="Oval 25"/>
          <p:cNvSpPr/>
          <p:nvPr/>
        </p:nvSpPr>
        <p:spPr>
          <a:xfrm>
            <a:off x="6638544" y="4745736"/>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Only as trustworthy as the source</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23</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HALLUCINATION</a:t>
            </a:r>
          </a:p>
        </p:txBody>
      </p:sp>
      <p:sp>
        <p:nvSpPr>
          <p:cNvPr id="9" name="TextBox 8"/>
          <p:cNvSpPr txBox="1"/>
          <p:nvPr/>
        </p:nvSpPr>
        <p:spPr>
          <a:xfrm>
            <a:off x="658368" y="1188720"/>
            <a:ext cx="10789920" cy="1965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F7FAFF"/>
                </a:solidFill>
                <a:latin typeface="Bahnschrift SemiBold"/>
              </a:rPr>
              <a:t>Plausible is not the same thing as true.</a:t>
            </a:r>
          </a:p>
        </p:txBody>
      </p:sp>
      <p:sp>
        <p:nvSpPr>
          <p:cNvPr id="10" name="Rounded Rectangle 9"/>
          <p:cNvSpPr/>
          <p:nvPr/>
        </p:nvSpPr>
        <p:spPr>
          <a:xfrm>
            <a:off x="658368" y="3858768"/>
            <a:ext cx="10881360" cy="141732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10241280" cy="82296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000" b="0">
                <a:solidFill>
                  <a:srgbClr val="D7E2F2"/>
                </a:solidFill>
                <a:latin typeface="Aptos"/>
              </a:rPr>
              <a:t>A hallucination is false or unsupported content generated because it fits the pattern - not because it was verified.</a:t>
            </a:r>
          </a:p>
        </p:txBody>
      </p:sp>
      <p:sp>
        <p:nvSpPr>
          <p:cNvPr id="12" name="TextBox 11"/>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13" name="TextBox 12"/>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A778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24</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VERIFICATION</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Trust evidence, not presentation</a:t>
            </a:r>
          </a:p>
        </p:txBody>
      </p:sp>
      <p:sp>
        <p:nvSpPr>
          <p:cNvPr id="10" name="Rounded Rectangle 9"/>
          <p:cNvSpPr/>
          <p:nvPr/>
        </p:nvSpPr>
        <p:spPr>
          <a:xfrm>
            <a:off x="585216" y="2331720"/>
            <a:ext cx="2035454"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SOURCE</a:t>
            </a:r>
          </a:p>
        </p:txBody>
      </p:sp>
      <p:sp>
        <p:nvSpPr>
          <p:cNvPr id="15" name="TextBox 14"/>
          <p:cNvSpPr txBox="1"/>
          <p:nvPr/>
        </p:nvSpPr>
        <p:spPr>
          <a:xfrm>
            <a:off x="877824"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Does the cited source exist?</a:t>
            </a:r>
          </a:p>
        </p:txBody>
      </p:sp>
      <p:cxnSp>
        <p:nvCxnSpPr>
          <p:cNvPr id="16" name="Connector 15"/>
          <p:cNvCxnSpPr/>
          <p:nvPr/>
        </p:nvCxnSpPr>
        <p:spPr>
          <a:xfrm>
            <a:off x="263895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30982" y="2331720"/>
            <a:ext cx="2035454"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0982"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87014"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701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3699662"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SUPPORT</a:t>
            </a:r>
          </a:p>
        </p:txBody>
      </p:sp>
      <p:sp>
        <p:nvSpPr>
          <p:cNvPr id="22" name="TextBox 21"/>
          <p:cNvSpPr txBox="1"/>
          <p:nvPr/>
        </p:nvSpPr>
        <p:spPr>
          <a:xfrm>
            <a:off x="3123590"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Does it actually support the claim?</a:t>
            </a:r>
          </a:p>
        </p:txBody>
      </p:sp>
      <p:cxnSp>
        <p:nvCxnSpPr>
          <p:cNvPr id="23" name="Connector 22"/>
          <p:cNvCxnSpPr/>
          <p:nvPr/>
        </p:nvCxnSpPr>
        <p:spPr>
          <a:xfrm>
            <a:off x="4884724"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76748" y="2331720"/>
            <a:ext cx="2035454" cy="2514600"/>
          </a:xfrm>
          <a:prstGeom prst="roundRect">
            <a:avLst/>
          </a:prstGeom>
          <a:solidFill>
            <a:srgbClr val="142442"/>
          </a:solidFill>
          <a:ln w="19050">
            <a:solidFill>
              <a:srgbClr val="55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6748" y="2331720"/>
            <a:ext cx="73152" cy="2514600"/>
          </a:xfrm>
          <a:prstGeom prst="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32780" y="2587752"/>
            <a:ext cx="475488" cy="420624"/>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2780"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5945428"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EXECUTE</a:t>
            </a:r>
          </a:p>
        </p:txBody>
      </p:sp>
      <p:sp>
        <p:nvSpPr>
          <p:cNvPr id="29" name="TextBox 28"/>
          <p:cNvSpPr txBox="1"/>
          <p:nvPr/>
        </p:nvSpPr>
        <p:spPr>
          <a:xfrm>
            <a:off x="5369356"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Can the code or calculation run?</a:t>
            </a:r>
          </a:p>
        </p:txBody>
      </p:sp>
      <p:cxnSp>
        <p:nvCxnSpPr>
          <p:cNvPr id="30" name="Connector 29"/>
          <p:cNvCxnSpPr/>
          <p:nvPr/>
        </p:nvCxnSpPr>
        <p:spPr>
          <a:xfrm>
            <a:off x="7130491"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22515" y="2331720"/>
            <a:ext cx="2035454"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22515"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78547"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8547"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81911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TEST</a:t>
            </a:r>
          </a:p>
        </p:txBody>
      </p:sp>
      <p:sp>
        <p:nvSpPr>
          <p:cNvPr id="36" name="TextBox 35"/>
          <p:cNvSpPr txBox="1"/>
          <p:nvPr/>
        </p:nvSpPr>
        <p:spPr>
          <a:xfrm>
            <a:off x="7615123"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Does the result survive a real check?</a:t>
            </a:r>
          </a:p>
        </p:txBody>
      </p:sp>
      <p:cxnSp>
        <p:nvCxnSpPr>
          <p:cNvPr id="37" name="Connector 36"/>
          <p:cNvCxnSpPr/>
          <p:nvPr/>
        </p:nvCxnSpPr>
        <p:spPr>
          <a:xfrm>
            <a:off x="9376257"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68281" y="2331720"/>
            <a:ext cx="2035454"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68281"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824313"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4313"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5</a:t>
            </a:r>
          </a:p>
        </p:txBody>
      </p:sp>
      <p:sp>
        <p:nvSpPr>
          <p:cNvPr id="42" name="TextBox 41"/>
          <p:cNvSpPr txBox="1"/>
          <p:nvPr/>
        </p:nvSpPr>
        <p:spPr>
          <a:xfrm>
            <a:off x="10436961"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OWN IT</a:t>
            </a:r>
          </a:p>
        </p:txBody>
      </p:sp>
      <p:sp>
        <p:nvSpPr>
          <p:cNvPr id="43" name="TextBox 42"/>
          <p:cNvSpPr txBox="1"/>
          <p:nvPr/>
        </p:nvSpPr>
        <p:spPr>
          <a:xfrm>
            <a:off x="9860889"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 human remains accountable.</a:t>
            </a:r>
          </a:p>
        </p:txBody>
      </p:sp>
      <p:sp>
        <p:nvSpPr>
          <p:cNvPr id="44" name="Rounded Rectangle 43"/>
          <p:cNvSpPr/>
          <p:nvPr/>
        </p:nvSpPr>
        <p:spPr>
          <a:xfrm>
            <a:off x="1051560" y="5230368"/>
            <a:ext cx="10104120" cy="566928"/>
          </a:xfrm>
          <a:prstGeom prst="roundRect">
            <a:avLst/>
          </a:prstGeom>
          <a:solidFill>
            <a:srgbClr val="0E1A33"/>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Verifiable artifacts beat confident assertions.</a:t>
            </a:r>
          </a:p>
        </p:txBody>
      </p:sp>
      <p:sp>
        <p:nvSpPr>
          <p:cNvPr id="46" name="TextBox 4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7" name="TextBox 4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594360"/>
            <a:ext cx="201168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FF6776"/>
                </a:solidFill>
                <a:latin typeface="Aptos"/>
              </a:rPr>
              <a:t>ACT 3</a:t>
            </a:r>
          </a:p>
        </p:txBody>
      </p:sp>
      <p:sp>
        <p:nvSpPr>
          <p:cNvPr id="7" name="TextBox 6"/>
          <p:cNvSpPr txBox="1"/>
          <p:nvPr/>
        </p:nvSpPr>
        <p:spPr>
          <a:xfrm>
            <a:off x="640080" y="1234440"/>
            <a:ext cx="10789920" cy="11887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400" b="1">
                <a:solidFill>
                  <a:srgbClr val="F7FAFF"/>
                </a:solidFill>
                <a:latin typeface="Bahnschrift SemiBold"/>
              </a:rPr>
              <a:t>Giving the model hands</a:t>
            </a:r>
          </a:p>
        </p:txBody>
      </p:sp>
      <p:sp>
        <p:nvSpPr>
          <p:cNvPr id="8" name="TextBox 7"/>
          <p:cNvSpPr txBox="1"/>
          <p:nvPr/>
        </p:nvSpPr>
        <p:spPr>
          <a:xfrm>
            <a:off x="676656" y="2697480"/>
            <a:ext cx="9966960" cy="7315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300" b="0">
                <a:solidFill>
                  <a:srgbClr val="D7E2F2"/>
                </a:solidFill>
                <a:latin typeface="Aptos"/>
              </a:rPr>
              <a:t>Harnesses, tools, MCP, instructions, and reusable skills</a:t>
            </a:r>
          </a:p>
        </p:txBody>
      </p:sp>
      <p:sp>
        <p:nvSpPr>
          <p:cNvPr id="9" name="TextBox 8"/>
          <p:cNvSpPr txBox="1"/>
          <p:nvPr/>
        </p:nvSpPr>
        <p:spPr>
          <a:xfrm>
            <a:off x="8641080" y="3794760"/>
            <a:ext cx="2514600" cy="1508760"/>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200" b="1">
                <a:solidFill>
                  <a:srgbClr val="FF6776"/>
                </a:solidFill>
                <a:latin typeface="Bahnschrift SemiBold"/>
              </a:rPr>
              <a:t>03</a:t>
            </a:r>
          </a:p>
        </p:txBody>
      </p:sp>
      <p:sp>
        <p:nvSpPr>
          <p:cNvPr id="10" name="Rectangle 9"/>
          <p:cNvSpPr/>
          <p:nvPr/>
        </p:nvSpPr>
        <p:spPr>
          <a:xfrm>
            <a:off x="8183879" y="5376672"/>
            <a:ext cx="2651760" cy="54864"/>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5559552"/>
            <a:ext cx="2011680" cy="54864"/>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3879" y="5742432"/>
            <a:ext cx="1371600" cy="54864"/>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26</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THE HARNESS</a:t>
            </a:r>
          </a:p>
        </p:txBody>
      </p:sp>
      <p:sp>
        <p:nvSpPr>
          <p:cNvPr id="9" name="TextBox 8"/>
          <p:cNvSpPr txBox="1"/>
          <p:nvPr/>
        </p:nvSpPr>
        <p:spPr>
          <a:xfrm>
            <a:off x="658368" y="1188720"/>
            <a:ext cx="10789920" cy="1965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F7FAFF"/>
                </a:solidFill>
                <a:latin typeface="Bahnschrift SemiBold"/>
              </a:rPr>
              <a:t>The model is the brain. The harness is the body.</a:t>
            </a:r>
          </a:p>
        </p:txBody>
      </p:sp>
      <p:sp>
        <p:nvSpPr>
          <p:cNvPr id="10" name="Rounded Rectangle 9"/>
          <p:cNvSpPr/>
          <p:nvPr/>
        </p:nvSpPr>
        <p:spPr>
          <a:xfrm>
            <a:off x="658368" y="3858768"/>
            <a:ext cx="10881360" cy="141732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10241280" cy="82296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000" b="0">
                <a:solidFill>
                  <a:srgbClr val="D7E2F2"/>
                </a:solidFill>
                <a:latin typeface="Aptos"/>
              </a:rPr>
              <a:t>It assembles context, calls the model, enforces permissions, runs approved actions, and decides whether to continue.</a:t>
            </a:r>
          </a:p>
        </p:txBody>
      </p:sp>
      <p:sp>
        <p:nvSpPr>
          <p:cNvPr id="12" name="TextBox 11"/>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13" name="TextBox 12"/>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27</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AGENTIC LOOP</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Assemble -&gt; call -&gt; act -&gt; repeat</a:t>
            </a:r>
          </a:p>
        </p:txBody>
      </p:sp>
      <p:sp>
        <p:nvSpPr>
          <p:cNvPr id="10" name="Rounded Rectangle 9"/>
          <p:cNvSpPr/>
          <p:nvPr/>
        </p:nvSpPr>
        <p:spPr>
          <a:xfrm>
            <a:off x="585216" y="2331720"/>
            <a:ext cx="2035454"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BUILD</a:t>
            </a:r>
          </a:p>
        </p:txBody>
      </p:sp>
      <p:sp>
        <p:nvSpPr>
          <p:cNvPr id="15" name="TextBox 14"/>
          <p:cNvSpPr txBox="1"/>
          <p:nvPr/>
        </p:nvSpPr>
        <p:spPr>
          <a:xfrm>
            <a:off x="877824"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Instructions + history + relevant files.</a:t>
            </a:r>
          </a:p>
        </p:txBody>
      </p:sp>
      <p:cxnSp>
        <p:nvCxnSpPr>
          <p:cNvPr id="16" name="Connector 15"/>
          <p:cNvCxnSpPr/>
          <p:nvPr/>
        </p:nvCxnSpPr>
        <p:spPr>
          <a:xfrm>
            <a:off x="263895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30982" y="2331720"/>
            <a:ext cx="2035454"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0982"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87014"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701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3699662"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CALL</a:t>
            </a:r>
          </a:p>
        </p:txBody>
      </p:sp>
      <p:sp>
        <p:nvSpPr>
          <p:cNvPr id="22" name="TextBox 21"/>
          <p:cNvSpPr txBox="1"/>
          <p:nvPr/>
        </p:nvSpPr>
        <p:spPr>
          <a:xfrm>
            <a:off x="3123590"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Ask the model what should happen next.</a:t>
            </a:r>
          </a:p>
        </p:txBody>
      </p:sp>
      <p:cxnSp>
        <p:nvCxnSpPr>
          <p:cNvPr id="23" name="Connector 22"/>
          <p:cNvCxnSpPr/>
          <p:nvPr/>
        </p:nvCxnSpPr>
        <p:spPr>
          <a:xfrm>
            <a:off x="4884724"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76748" y="2331720"/>
            <a:ext cx="2035454"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6748"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32780"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2780"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5945428"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CHECK</a:t>
            </a:r>
          </a:p>
        </p:txBody>
      </p:sp>
      <p:sp>
        <p:nvSpPr>
          <p:cNvPr id="29" name="TextBox 28"/>
          <p:cNvSpPr txBox="1"/>
          <p:nvPr/>
        </p:nvSpPr>
        <p:spPr>
          <a:xfrm>
            <a:off x="5369356"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Apply permissions and guardrails.</a:t>
            </a:r>
          </a:p>
        </p:txBody>
      </p:sp>
      <p:cxnSp>
        <p:nvCxnSpPr>
          <p:cNvPr id="30" name="Connector 29"/>
          <p:cNvCxnSpPr/>
          <p:nvPr/>
        </p:nvCxnSpPr>
        <p:spPr>
          <a:xfrm>
            <a:off x="7130491"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22515" y="2331720"/>
            <a:ext cx="2035454"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22515"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78547"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78547"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8191195"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ACT</a:t>
            </a:r>
          </a:p>
        </p:txBody>
      </p:sp>
      <p:sp>
        <p:nvSpPr>
          <p:cNvPr id="36" name="TextBox 35"/>
          <p:cNvSpPr txBox="1"/>
          <p:nvPr/>
        </p:nvSpPr>
        <p:spPr>
          <a:xfrm>
            <a:off x="7615123"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Run an approved tool.</a:t>
            </a:r>
          </a:p>
        </p:txBody>
      </p:sp>
      <p:cxnSp>
        <p:nvCxnSpPr>
          <p:cNvPr id="37" name="Connector 36"/>
          <p:cNvCxnSpPr/>
          <p:nvPr/>
        </p:nvCxnSpPr>
        <p:spPr>
          <a:xfrm>
            <a:off x="9376257"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68281" y="2331720"/>
            <a:ext cx="2035454" cy="2514600"/>
          </a:xfrm>
          <a:prstGeom prst="roundRect">
            <a:avLst/>
          </a:prstGeom>
          <a:solidFill>
            <a:srgbClr val="142442"/>
          </a:solidFill>
          <a:ln w="19050">
            <a:solidFill>
              <a:srgbClr val="55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68281" y="2331720"/>
            <a:ext cx="73152" cy="2514600"/>
          </a:xfrm>
          <a:prstGeom prst="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824313" y="2587752"/>
            <a:ext cx="475488" cy="420624"/>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4313"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5</a:t>
            </a:r>
          </a:p>
        </p:txBody>
      </p:sp>
      <p:sp>
        <p:nvSpPr>
          <p:cNvPr id="42" name="TextBox 41"/>
          <p:cNvSpPr txBox="1"/>
          <p:nvPr/>
        </p:nvSpPr>
        <p:spPr>
          <a:xfrm>
            <a:off x="10436961" y="2578608"/>
            <a:ext cx="938174"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REPEAT</a:t>
            </a:r>
          </a:p>
        </p:txBody>
      </p:sp>
      <p:sp>
        <p:nvSpPr>
          <p:cNvPr id="43" name="TextBox 42"/>
          <p:cNvSpPr txBox="1"/>
          <p:nvPr/>
        </p:nvSpPr>
        <p:spPr>
          <a:xfrm>
            <a:off x="9860889" y="3172968"/>
            <a:ext cx="1505102"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Feed the result back until done.</a:t>
            </a:r>
          </a:p>
        </p:txBody>
      </p:sp>
      <p:sp>
        <p:nvSpPr>
          <p:cNvPr id="44" name="Rounded Rectangle 43"/>
          <p:cNvSpPr/>
          <p:nvPr/>
        </p:nvSpPr>
        <p:spPr>
          <a:xfrm>
            <a:off x="1051560" y="5230368"/>
            <a:ext cx="10104120" cy="566928"/>
          </a:xfrm>
          <a:prstGeom prst="roundRect">
            <a:avLst/>
          </a:prstGeom>
          <a:solidFill>
            <a:srgbClr val="0E1A33"/>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Same model + different harness = different behavior.</a:t>
            </a:r>
          </a:p>
        </p:txBody>
      </p:sp>
      <p:sp>
        <p:nvSpPr>
          <p:cNvPr id="46" name="TextBox 4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7" name="TextBox 4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28</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TOOLS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A tool call, end to end</a:t>
            </a:r>
          </a:p>
        </p:txBody>
      </p:sp>
      <p:sp>
        <p:nvSpPr>
          <p:cNvPr id="10" name="Oval 9"/>
          <p:cNvSpPr/>
          <p:nvPr/>
        </p:nvSpPr>
        <p:spPr>
          <a:xfrm>
            <a:off x="1225295" y="2212848"/>
            <a:ext cx="1280160" cy="1280160"/>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25295" y="2212848"/>
            <a:ext cx="1280160" cy="12801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MODEL</a:t>
            </a:r>
          </a:p>
        </p:txBody>
      </p:sp>
      <p:sp>
        <p:nvSpPr>
          <p:cNvPr id="12" name="TextBox 11"/>
          <p:cNvSpPr txBox="1"/>
          <p:nvPr/>
        </p:nvSpPr>
        <p:spPr>
          <a:xfrm>
            <a:off x="566928" y="3703320"/>
            <a:ext cx="2606040" cy="98755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0">
                <a:solidFill>
                  <a:srgbClr val="D7E2F2"/>
                </a:solidFill>
                <a:latin typeface="Cascadia Mono"/>
              </a:rPr>
              <a:t>web_search("FRC 2026")</a:t>
            </a:r>
          </a:p>
        </p:txBody>
      </p:sp>
      <p:cxnSp>
        <p:nvCxnSpPr>
          <p:cNvPr id="13" name="Connector 12"/>
          <p:cNvCxnSpPr/>
          <p:nvPr/>
        </p:nvCxnSpPr>
        <p:spPr>
          <a:xfrm>
            <a:off x="2578608" y="2852928"/>
            <a:ext cx="749808" cy="0"/>
          </a:xfrm>
          <a:prstGeom prst="line">
            <a:avLst/>
          </a:prstGeom>
          <a:ln w="25400">
            <a:solidFill>
              <a:srgbClr val="2DE2E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133088" y="2212848"/>
            <a:ext cx="1280160" cy="1280160"/>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33088" y="2212848"/>
            <a:ext cx="1280160" cy="12801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HARNESS</a:t>
            </a:r>
          </a:p>
        </p:txBody>
      </p:sp>
      <p:sp>
        <p:nvSpPr>
          <p:cNvPr id="16" name="TextBox 15"/>
          <p:cNvSpPr txBox="1"/>
          <p:nvPr/>
        </p:nvSpPr>
        <p:spPr>
          <a:xfrm>
            <a:off x="3474720" y="3703320"/>
            <a:ext cx="2606040" cy="98755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0">
                <a:solidFill>
                  <a:srgbClr val="D7E2F2"/>
                </a:solidFill>
                <a:latin typeface="Aptos"/>
              </a:rPr>
              <a:t>Checks permission
and runs it</a:t>
            </a:r>
          </a:p>
        </p:txBody>
      </p:sp>
      <p:cxnSp>
        <p:nvCxnSpPr>
          <p:cNvPr id="17" name="Connector 16"/>
          <p:cNvCxnSpPr/>
          <p:nvPr/>
        </p:nvCxnSpPr>
        <p:spPr>
          <a:xfrm>
            <a:off x="5486400" y="2852928"/>
            <a:ext cx="749808" cy="0"/>
          </a:xfrm>
          <a:prstGeom prst="line">
            <a:avLst/>
          </a:prstGeom>
          <a:ln w="25400">
            <a:solidFill>
              <a:srgbClr val="A778F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040880" y="2212848"/>
            <a:ext cx="1280160" cy="1280160"/>
          </a:xfrm>
          <a:prstGeom prst="ellipse">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2212848"/>
            <a:ext cx="1280160" cy="12801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TOOL</a:t>
            </a:r>
          </a:p>
        </p:txBody>
      </p:sp>
      <p:sp>
        <p:nvSpPr>
          <p:cNvPr id="20" name="TextBox 19"/>
          <p:cNvSpPr txBox="1"/>
          <p:nvPr/>
        </p:nvSpPr>
        <p:spPr>
          <a:xfrm>
            <a:off x="6382512" y="3703320"/>
            <a:ext cx="2606040" cy="98755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0">
                <a:solidFill>
                  <a:srgbClr val="D7E2F2"/>
                </a:solidFill>
                <a:latin typeface="Aptos"/>
              </a:rPr>
              <a:t>Returns current
search results</a:t>
            </a:r>
          </a:p>
        </p:txBody>
      </p:sp>
      <p:cxnSp>
        <p:nvCxnSpPr>
          <p:cNvPr id="21" name="Connector 20"/>
          <p:cNvCxnSpPr/>
          <p:nvPr/>
        </p:nvCxnSpPr>
        <p:spPr>
          <a:xfrm>
            <a:off x="8394192" y="2852928"/>
            <a:ext cx="749808" cy="0"/>
          </a:xfrm>
          <a:prstGeom prst="line">
            <a:avLst/>
          </a:prstGeom>
          <a:ln w="25400">
            <a:solidFill>
              <a:srgbClr val="FF677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948672" y="2212848"/>
            <a:ext cx="1280160" cy="1280160"/>
          </a:xfrm>
          <a:prstGeom prst="ellipse">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48672" y="2212848"/>
            <a:ext cx="1280160" cy="128016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400" b="1">
                <a:solidFill>
                  <a:srgbClr val="081022"/>
                </a:solidFill>
                <a:latin typeface="Aptos"/>
              </a:rPr>
              <a:t>MODEL</a:t>
            </a:r>
          </a:p>
        </p:txBody>
      </p:sp>
      <p:sp>
        <p:nvSpPr>
          <p:cNvPr id="24" name="TextBox 23"/>
          <p:cNvSpPr txBox="1"/>
          <p:nvPr/>
        </p:nvSpPr>
        <p:spPr>
          <a:xfrm>
            <a:off x="9290304" y="3703320"/>
            <a:ext cx="2606040" cy="98755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0">
                <a:solidFill>
                  <a:srgbClr val="D7E2F2"/>
                </a:solidFill>
                <a:latin typeface="Aptos"/>
              </a:rPr>
              <a:t>Reads result
and answers</a:t>
            </a:r>
          </a:p>
        </p:txBody>
      </p:sp>
      <p:sp>
        <p:nvSpPr>
          <p:cNvPr id="25" name="Rounded Rectangle 24"/>
          <p:cNvSpPr/>
          <p:nvPr/>
        </p:nvSpPr>
        <p:spPr>
          <a:xfrm>
            <a:off x="1051560" y="5148072"/>
            <a:ext cx="10104120" cy="65836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5321808"/>
            <a:ext cx="9738360" cy="310896"/>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800" b="1">
                <a:solidFill>
                  <a:srgbClr val="F7FAFF"/>
                </a:solidFill>
                <a:latin typeface="Aptos"/>
              </a:rPr>
              <a:t>The model proposes. The harness permits and acts.</a:t>
            </a:r>
          </a:p>
        </p:txBody>
      </p:sp>
      <p:sp>
        <p:nvSpPr>
          <p:cNvPr id="27" name="TextBox 26"/>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8" name="TextBox 27"/>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29</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TOOL INVENTORY</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A harness mounts capabilities</a:t>
            </a:r>
          </a:p>
        </p:txBody>
      </p:sp>
      <p:sp>
        <p:nvSpPr>
          <p:cNvPr id="10" name="Oval 9"/>
          <p:cNvSpPr/>
          <p:nvPr/>
        </p:nvSpPr>
        <p:spPr>
          <a:xfrm>
            <a:off x="4892040" y="2432304"/>
            <a:ext cx="2331720" cy="2331720"/>
          </a:xfrm>
          <a:prstGeom prst="ellipse">
            <a:avLst/>
          </a:prstGeom>
          <a:solidFill>
            <a:srgbClr val="1B3155"/>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56632" y="3035808"/>
            <a:ext cx="1993392" cy="777240"/>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2000" b="1">
                <a:solidFill>
                  <a:srgbClr val="F7FAFF"/>
                </a:solidFill>
                <a:latin typeface="Aptos"/>
              </a:rPr>
              <a:t>MODEL
REQUESTS</a:t>
            </a:r>
          </a:p>
        </p:txBody>
      </p:sp>
      <p:sp>
        <p:nvSpPr>
          <p:cNvPr id="12" name="Oval 11"/>
          <p:cNvSpPr/>
          <p:nvPr/>
        </p:nvSpPr>
        <p:spPr>
          <a:xfrm>
            <a:off x="960120" y="2286000"/>
            <a:ext cx="1874519" cy="1874519"/>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2596896"/>
            <a:ext cx="1545336" cy="34747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081022"/>
                </a:solidFill>
                <a:latin typeface="Aptos"/>
              </a:rPr>
              <a:t>FILES</a:t>
            </a:r>
          </a:p>
        </p:txBody>
      </p:sp>
      <p:sp>
        <p:nvSpPr>
          <p:cNvPr id="14" name="TextBox 13"/>
          <p:cNvSpPr txBox="1"/>
          <p:nvPr/>
        </p:nvSpPr>
        <p:spPr>
          <a:xfrm>
            <a:off x="1143000" y="3017520"/>
            <a:ext cx="1508760" cy="8046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050" b="0">
                <a:solidFill>
                  <a:srgbClr val="081022"/>
                </a:solidFill>
                <a:latin typeface="Aptos"/>
              </a:rPr>
              <a:t>Search, view, edit, and patch</a:t>
            </a:r>
          </a:p>
        </p:txBody>
      </p:sp>
      <p:cxnSp>
        <p:nvCxnSpPr>
          <p:cNvPr id="15" name="Connector 14"/>
          <p:cNvCxnSpPr/>
          <p:nvPr/>
        </p:nvCxnSpPr>
        <p:spPr>
          <a:xfrm>
            <a:off x="1892808" y="3218688"/>
            <a:ext cx="4160520" cy="365760"/>
          </a:xfrm>
          <a:prstGeom prst="line">
            <a:avLst/>
          </a:prstGeom>
          <a:ln w="16510">
            <a:solidFill>
              <a:srgbClr val="2DE2E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641080" y="2148840"/>
            <a:ext cx="1874519" cy="1874519"/>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2459736"/>
            <a:ext cx="1545336" cy="34747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081022"/>
                </a:solidFill>
                <a:latin typeface="Aptos"/>
              </a:rPr>
              <a:t>SHELL</a:t>
            </a:r>
          </a:p>
        </p:txBody>
      </p:sp>
      <p:sp>
        <p:nvSpPr>
          <p:cNvPr id="18" name="TextBox 17"/>
          <p:cNvSpPr txBox="1"/>
          <p:nvPr/>
        </p:nvSpPr>
        <p:spPr>
          <a:xfrm>
            <a:off x="8823959" y="2880360"/>
            <a:ext cx="1508760" cy="8046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050" b="0">
                <a:solidFill>
                  <a:srgbClr val="081022"/>
                </a:solidFill>
                <a:latin typeface="Aptos"/>
              </a:rPr>
              <a:t>Run builds, tests, and scripts</a:t>
            </a:r>
          </a:p>
        </p:txBody>
      </p:sp>
      <p:cxnSp>
        <p:nvCxnSpPr>
          <p:cNvPr id="19" name="Connector 18"/>
          <p:cNvCxnSpPr/>
          <p:nvPr/>
        </p:nvCxnSpPr>
        <p:spPr>
          <a:xfrm flipH="1">
            <a:off x="6053328" y="3081528"/>
            <a:ext cx="3520439" cy="502920"/>
          </a:xfrm>
          <a:prstGeom prst="line">
            <a:avLst/>
          </a:prstGeom>
          <a:ln w="16510">
            <a:solidFill>
              <a:srgbClr val="A778FF"/>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691640" y="4434840"/>
            <a:ext cx="1874519" cy="1874519"/>
          </a:xfrm>
          <a:prstGeom prst="ellipse">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56232" y="4745736"/>
            <a:ext cx="1545336" cy="34747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081022"/>
                </a:solidFill>
                <a:latin typeface="Aptos"/>
              </a:rPr>
              <a:t>WEB</a:t>
            </a:r>
          </a:p>
        </p:txBody>
      </p:sp>
      <p:sp>
        <p:nvSpPr>
          <p:cNvPr id="22" name="TextBox 21"/>
          <p:cNvSpPr txBox="1"/>
          <p:nvPr/>
        </p:nvSpPr>
        <p:spPr>
          <a:xfrm>
            <a:off x="1874520" y="5166359"/>
            <a:ext cx="1508760" cy="8046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050" b="0">
                <a:solidFill>
                  <a:srgbClr val="081022"/>
                </a:solidFill>
                <a:latin typeface="Aptos"/>
              </a:rPr>
              <a:t>Fetch current pages and APIs</a:t>
            </a:r>
          </a:p>
        </p:txBody>
      </p:sp>
      <p:cxnSp>
        <p:nvCxnSpPr>
          <p:cNvPr id="23" name="Connector 22"/>
          <p:cNvCxnSpPr/>
          <p:nvPr/>
        </p:nvCxnSpPr>
        <p:spPr>
          <a:xfrm flipV="1">
            <a:off x="2624328" y="3584448"/>
            <a:ext cx="3429000" cy="1783079"/>
          </a:xfrm>
          <a:prstGeom prst="line">
            <a:avLst/>
          </a:prstGeom>
          <a:ln w="16510">
            <a:solidFill>
              <a:srgbClr val="FFC857"/>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909560" y="4434840"/>
            <a:ext cx="1874519" cy="1874519"/>
          </a:xfrm>
          <a:prstGeom prst="ellipse">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74152" y="4745736"/>
            <a:ext cx="1545336" cy="34747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081022"/>
                </a:solidFill>
                <a:latin typeface="Aptos"/>
              </a:rPr>
              <a:t>AGENTS</a:t>
            </a:r>
          </a:p>
        </p:txBody>
      </p:sp>
      <p:sp>
        <p:nvSpPr>
          <p:cNvPr id="26" name="TextBox 25"/>
          <p:cNvSpPr txBox="1"/>
          <p:nvPr/>
        </p:nvSpPr>
        <p:spPr>
          <a:xfrm>
            <a:off x="8092440" y="5166359"/>
            <a:ext cx="1508760" cy="8046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050" b="0">
                <a:solidFill>
                  <a:srgbClr val="081022"/>
                </a:solidFill>
                <a:latin typeface="Aptos"/>
              </a:rPr>
              <a:t>Delegate specialized work</a:t>
            </a:r>
          </a:p>
        </p:txBody>
      </p:sp>
      <p:cxnSp>
        <p:nvCxnSpPr>
          <p:cNvPr id="27" name="Connector 26"/>
          <p:cNvCxnSpPr/>
          <p:nvPr/>
        </p:nvCxnSpPr>
        <p:spPr>
          <a:xfrm flipH="1" flipV="1">
            <a:off x="6053328" y="3584448"/>
            <a:ext cx="2788920" cy="1783079"/>
          </a:xfrm>
          <a:prstGeom prst="line">
            <a:avLst/>
          </a:prstGeom>
          <a:ln w="16510">
            <a:solidFill>
              <a:srgbClr val="FF677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30</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THE FILE BOUNDARY</a:t>
            </a:r>
          </a:p>
        </p:txBody>
      </p:sp>
      <p:sp>
        <p:nvSpPr>
          <p:cNvPr id="9" name="TextBox 8"/>
          <p:cNvSpPr txBox="1"/>
          <p:nvPr/>
        </p:nvSpPr>
        <p:spPr>
          <a:xfrm>
            <a:off x="658368" y="1188720"/>
            <a:ext cx="10789920" cy="1965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F7FAFF"/>
                </a:solidFill>
                <a:latin typeface="Bahnschrift SemiBold"/>
              </a:rPr>
              <a:t>The model sees only what the surrounding system supplies.</a:t>
            </a:r>
          </a:p>
        </p:txBody>
      </p:sp>
      <p:sp>
        <p:nvSpPr>
          <p:cNvPr id="10" name="Rounded Rectangle 9"/>
          <p:cNvSpPr/>
          <p:nvPr/>
        </p:nvSpPr>
        <p:spPr>
          <a:xfrm>
            <a:off x="658368" y="3858768"/>
            <a:ext cx="10881360" cy="141732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10241280" cy="82296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000" b="0">
                <a:solidFill>
                  <a:srgbClr val="D7E2F2"/>
                </a:solidFill>
                <a:latin typeface="Aptos"/>
              </a:rPr>
              <a:t>Returned excerpts enter context. Unreturned file content stays outside. None of it becomes permanently trained into the weights.</a:t>
            </a:r>
          </a:p>
        </p:txBody>
      </p:sp>
      <p:sp>
        <p:nvSpPr>
          <p:cNvPr id="12" name="TextBox 11"/>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13" name="TextBox 12"/>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31</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WHY MCP?</a:t>
            </a:r>
          </a:p>
        </p:txBody>
      </p:sp>
      <p:sp>
        <p:nvSpPr>
          <p:cNvPr id="9" name="TextBox 8"/>
          <p:cNvSpPr txBox="1"/>
          <p:nvPr/>
        </p:nvSpPr>
        <p:spPr>
          <a:xfrm>
            <a:off x="658368" y="1188720"/>
            <a:ext cx="10789920" cy="1965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4200" b="1">
                <a:solidFill>
                  <a:srgbClr val="F7FAFF"/>
                </a:solidFill>
                <a:latin typeface="Bahnschrift SemiBold"/>
              </a:rPr>
              <a:t>Stop rebuilding every connection pair-by-pair.</a:t>
            </a:r>
          </a:p>
        </p:txBody>
      </p:sp>
      <p:sp>
        <p:nvSpPr>
          <p:cNvPr id="10" name="Rounded Rectangle 9"/>
          <p:cNvSpPr/>
          <p:nvPr/>
        </p:nvSpPr>
        <p:spPr>
          <a:xfrm>
            <a:off x="658368" y="3858768"/>
            <a:ext cx="10881360" cy="141732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10241280" cy="822960"/>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000" b="0">
                <a:solidFill>
                  <a:srgbClr val="D7E2F2"/>
                </a:solidFill>
                <a:latin typeface="Aptos"/>
              </a:rPr>
              <a:t>MCP is a shared protocol for exposing capabilities to compatible AI hosts.</a:t>
            </a:r>
          </a:p>
        </p:txBody>
      </p:sp>
      <p:sp>
        <p:nvSpPr>
          <p:cNvPr id="12" name="TextBox 11"/>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13" name="TextBox 12"/>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32</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MCP</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One shared plug for many capabilities</a:t>
            </a:r>
          </a:p>
        </p:txBody>
      </p:sp>
      <p:sp>
        <p:nvSpPr>
          <p:cNvPr id="10" name="Oval 9"/>
          <p:cNvSpPr/>
          <p:nvPr/>
        </p:nvSpPr>
        <p:spPr>
          <a:xfrm>
            <a:off x="4754880" y="2130552"/>
            <a:ext cx="2560320" cy="2560320"/>
          </a:xfrm>
          <a:prstGeom prst="ellipse">
            <a:avLst/>
          </a:prstGeom>
          <a:solidFill>
            <a:srgbClr val="1B3155"/>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487168"/>
            <a:ext cx="2560320" cy="4572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2400" b="1">
                <a:solidFill>
                  <a:srgbClr val="F7FAFF"/>
                </a:solidFill>
                <a:latin typeface="Aptos"/>
              </a:rPr>
              <a:t>AI HOST</a:t>
            </a:r>
          </a:p>
        </p:txBody>
      </p:sp>
      <p:sp>
        <p:nvSpPr>
          <p:cNvPr id="12" name="TextBox 11"/>
          <p:cNvSpPr txBox="1"/>
          <p:nvPr/>
        </p:nvSpPr>
        <p:spPr>
          <a:xfrm>
            <a:off x="4754880" y="3044952"/>
            <a:ext cx="2560320" cy="36576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300" b="1">
                <a:solidFill>
                  <a:srgbClr val="FF6776"/>
                </a:solidFill>
                <a:latin typeface="Aptos"/>
              </a:rPr>
              <a:t>+ MCP client</a:t>
            </a:r>
          </a:p>
        </p:txBody>
      </p:sp>
      <p:sp>
        <p:nvSpPr>
          <p:cNvPr id="13" name="Rounded Rectangle 12"/>
          <p:cNvSpPr/>
          <p:nvPr/>
        </p:nvSpPr>
        <p:spPr>
          <a:xfrm>
            <a:off x="731520" y="2011680"/>
            <a:ext cx="2514600" cy="932688"/>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11680"/>
            <a:ext cx="2514600" cy="9326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GITHUB</a:t>
            </a:r>
          </a:p>
        </p:txBody>
      </p:sp>
      <p:cxnSp>
        <p:nvCxnSpPr>
          <p:cNvPr id="15" name="Connector 14"/>
          <p:cNvCxnSpPr/>
          <p:nvPr/>
        </p:nvCxnSpPr>
        <p:spPr>
          <a:xfrm>
            <a:off x="1984248" y="2478024"/>
            <a:ext cx="4050792" cy="932688"/>
          </a:xfrm>
          <a:prstGeom prst="line">
            <a:avLst/>
          </a:prstGeom>
          <a:ln w="22860">
            <a:solidFill>
              <a:srgbClr val="A778F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417320" y="4480560"/>
            <a:ext cx="2514600" cy="932688"/>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17320" y="4480560"/>
            <a:ext cx="2514600" cy="9326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FILES</a:t>
            </a:r>
          </a:p>
        </p:txBody>
      </p:sp>
      <p:cxnSp>
        <p:nvCxnSpPr>
          <p:cNvPr id="18" name="Connector 17"/>
          <p:cNvCxnSpPr/>
          <p:nvPr/>
        </p:nvCxnSpPr>
        <p:spPr>
          <a:xfrm flipV="1">
            <a:off x="2670048" y="3410712"/>
            <a:ext cx="3364992" cy="1536192"/>
          </a:xfrm>
          <a:prstGeom prst="line">
            <a:avLst/>
          </a:prstGeom>
          <a:ln w="22860">
            <a:solidFill>
              <a:srgbClr val="2DE2E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915400" y="2011680"/>
            <a:ext cx="2514600" cy="932688"/>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5400" y="2011680"/>
            <a:ext cx="2514600" cy="9326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DATABASE</a:t>
            </a:r>
          </a:p>
        </p:txBody>
      </p:sp>
      <p:cxnSp>
        <p:nvCxnSpPr>
          <p:cNvPr id="21" name="Connector 20"/>
          <p:cNvCxnSpPr/>
          <p:nvPr/>
        </p:nvCxnSpPr>
        <p:spPr>
          <a:xfrm flipH="1">
            <a:off x="6035040" y="2478024"/>
            <a:ext cx="4133088" cy="932688"/>
          </a:xfrm>
          <a:prstGeom prst="line">
            <a:avLst/>
          </a:prstGeom>
          <a:ln w="22860">
            <a:solidFill>
              <a:srgbClr val="55E69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75320" y="4480560"/>
            <a:ext cx="2514600" cy="932688"/>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4480560"/>
            <a:ext cx="2514600" cy="93268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BROWSER</a:t>
            </a:r>
          </a:p>
        </p:txBody>
      </p:sp>
      <p:cxnSp>
        <p:nvCxnSpPr>
          <p:cNvPr id="24" name="Connector 23"/>
          <p:cNvCxnSpPr/>
          <p:nvPr/>
        </p:nvCxnSpPr>
        <p:spPr>
          <a:xfrm flipH="1" flipV="1">
            <a:off x="6035040" y="3410712"/>
            <a:ext cx="3493008" cy="1536192"/>
          </a:xfrm>
          <a:prstGeom prst="line">
            <a:avLst/>
          </a:prstGeom>
          <a:ln w="22860">
            <a:solidFill>
              <a:srgbClr val="FFC85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828800" y="5742432"/>
            <a:ext cx="8549640" cy="45720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600" b="0">
                <a:solidFill>
                  <a:srgbClr val="D7E2F2"/>
                </a:solidFill>
                <a:latin typeface="Aptos"/>
              </a:rPr>
              <a:t>Servers expose tools, resources, and prompts. The host chooses what the model may use.</a:t>
            </a:r>
          </a:p>
        </p:txBody>
      </p:sp>
      <p:sp>
        <p:nvSpPr>
          <p:cNvPr id="26" name="TextBox 2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7" name="TextBox 2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33</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INSTRUCTIONS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The layers that steer one model</a:t>
            </a:r>
          </a:p>
        </p:txBody>
      </p:sp>
      <p:sp>
        <p:nvSpPr>
          <p:cNvPr id="10" name="Rounded Rectangle 9"/>
          <p:cNvSpPr/>
          <p:nvPr/>
        </p:nvSpPr>
        <p:spPr>
          <a:xfrm>
            <a:off x="914400" y="2057400"/>
            <a:ext cx="10287000" cy="603504"/>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2167128"/>
            <a:ext cx="228600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DE2E6"/>
                </a:solidFill>
                <a:latin typeface="Aptos"/>
              </a:rPr>
              <a:t>SYSTEM</a:t>
            </a:r>
          </a:p>
        </p:txBody>
      </p:sp>
      <p:sp>
        <p:nvSpPr>
          <p:cNvPr id="12" name="TextBox 11"/>
          <p:cNvSpPr txBox="1"/>
          <p:nvPr/>
        </p:nvSpPr>
        <p:spPr>
          <a:xfrm>
            <a:off x="3520440" y="2167128"/>
            <a:ext cx="7434071"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Highest-level role, boundaries, and product rules.</a:t>
            </a:r>
          </a:p>
        </p:txBody>
      </p:sp>
      <p:sp>
        <p:nvSpPr>
          <p:cNvPr id="13" name="Rounded Rectangle 12"/>
          <p:cNvSpPr/>
          <p:nvPr/>
        </p:nvSpPr>
        <p:spPr>
          <a:xfrm>
            <a:off x="1060704" y="2807208"/>
            <a:ext cx="9994392" cy="603504"/>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6736" y="2916936"/>
            <a:ext cx="228600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A778FF"/>
                </a:solidFill>
                <a:latin typeface="Aptos"/>
              </a:rPr>
              <a:t>PROJECT</a:t>
            </a:r>
          </a:p>
        </p:txBody>
      </p:sp>
      <p:sp>
        <p:nvSpPr>
          <p:cNvPr id="15" name="TextBox 14"/>
          <p:cNvSpPr txBox="1"/>
          <p:nvPr/>
        </p:nvSpPr>
        <p:spPr>
          <a:xfrm>
            <a:off x="3666744" y="2916936"/>
            <a:ext cx="7141464"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Repository instructions such as AGENTS.md or CLAUDE.md.</a:t>
            </a:r>
          </a:p>
        </p:txBody>
      </p:sp>
      <p:sp>
        <p:nvSpPr>
          <p:cNvPr id="16" name="Rounded Rectangle 15"/>
          <p:cNvSpPr/>
          <p:nvPr/>
        </p:nvSpPr>
        <p:spPr>
          <a:xfrm>
            <a:off x="1207008" y="3557015"/>
            <a:ext cx="9701784" cy="603504"/>
          </a:xfrm>
          <a:prstGeom prst="roundRect">
            <a:avLst/>
          </a:prstGeom>
          <a:solidFill>
            <a:srgbClr val="142442"/>
          </a:solidFill>
          <a:ln w="19050">
            <a:solidFill>
              <a:srgbClr val="4C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63040" y="3666744"/>
            <a:ext cx="228600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4C8DFF"/>
                </a:solidFill>
                <a:latin typeface="Aptos"/>
              </a:rPr>
              <a:t>HISTORY</a:t>
            </a:r>
          </a:p>
        </p:txBody>
      </p:sp>
      <p:sp>
        <p:nvSpPr>
          <p:cNvPr id="18" name="TextBox 17"/>
          <p:cNvSpPr txBox="1"/>
          <p:nvPr/>
        </p:nvSpPr>
        <p:spPr>
          <a:xfrm>
            <a:off x="3813048" y="3666744"/>
            <a:ext cx="6848855"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Prior conversation and returned tool results.</a:t>
            </a:r>
          </a:p>
        </p:txBody>
      </p:sp>
      <p:sp>
        <p:nvSpPr>
          <p:cNvPr id="19" name="Rounded Rectangle 18"/>
          <p:cNvSpPr/>
          <p:nvPr/>
        </p:nvSpPr>
        <p:spPr>
          <a:xfrm>
            <a:off x="1353312" y="4306824"/>
            <a:ext cx="9409176" cy="603504"/>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9344" y="4416552"/>
            <a:ext cx="228600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FC857"/>
                </a:solidFill>
                <a:latin typeface="Aptos"/>
              </a:rPr>
              <a:t>USER</a:t>
            </a:r>
          </a:p>
        </p:txBody>
      </p:sp>
      <p:sp>
        <p:nvSpPr>
          <p:cNvPr id="21" name="TextBox 20"/>
          <p:cNvSpPr txBox="1"/>
          <p:nvPr/>
        </p:nvSpPr>
        <p:spPr>
          <a:xfrm>
            <a:off x="3959352" y="4416552"/>
            <a:ext cx="6556247"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The current request and constraints.</a:t>
            </a:r>
          </a:p>
        </p:txBody>
      </p:sp>
      <p:sp>
        <p:nvSpPr>
          <p:cNvPr id="22" name="Rounded Rectangle 21"/>
          <p:cNvSpPr/>
          <p:nvPr/>
        </p:nvSpPr>
        <p:spPr>
          <a:xfrm>
            <a:off x="1499616" y="5056631"/>
            <a:ext cx="9116568" cy="603504"/>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55648" y="5166359"/>
            <a:ext cx="228600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F6776"/>
                </a:solidFill>
                <a:latin typeface="Aptos"/>
              </a:rPr>
              <a:t>UNTRUSTED DATA</a:t>
            </a:r>
          </a:p>
        </p:txBody>
      </p:sp>
      <p:sp>
        <p:nvSpPr>
          <p:cNvPr id="24" name="TextBox 23"/>
          <p:cNvSpPr txBox="1"/>
          <p:nvPr/>
        </p:nvSpPr>
        <p:spPr>
          <a:xfrm>
            <a:off x="4105656" y="5166359"/>
            <a:ext cx="626364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Web pages, files, and external text are data - not authority.</a:t>
            </a:r>
          </a:p>
        </p:txBody>
      </p:sp>
      <p:sp>
        <p:nvSpPr>
          <p:cNvPr id="25" name="TextBox 24"/>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6" name="TextBox 25"/>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34</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SYSTEM PROMPT</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Same weights. Different job.</a:t>
            </a:r>
          </a:p>
        </p:txBody>
      </p:sp>
      <p:sp>
        <p:nvSpPr>
          <p:cNvPr id="10" name="Rounded Rectangle 9"/>
          <p:cNvSpPr/>
          <p:nvPr/>
        </p:nvSpPr>
        <p:spPr>
          <a:xfrm>
            <a:off x="566928" y="2148840"/>
            <a:ext cx="3493008" cy="3401568"/>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48840"/>
            <a:ext cx="73152" cy="3401568"/>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240487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35607"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TUTOR</a:t>
            </a:r>
          </a:p>
        </p:txBody>
      </p:sp>
      <p:sp>
        <p:nvSpPr>
          <p:cNvPr id="15" name="TextBox 14"/>
          <p:cNvSpPr txBox="1"/>
          <p:nvPr/>
        </p:nvSpPr>
        <p:spPr>
          <a:xfrm>
            <a:off x="859536"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Explain patiently. Ask guiding questions. Adapt to the learner.</a:t>
            </a:r>
          </a:p>
        </p:txBody>
      </p:sp>
      <p:sp>
        <p:nvSpPr>
          <p:cNvPr id="16" name="Rounded Rectangle 15"/>
          <p:cNvSpPr/>
          <p:nvPr/>
        </p:nvSpPr>
        <p:spPr>
          <a:xfrm>
            <a:off x="4389120" y="2148840"/>
            <a:ext cx="3493008" cy="340156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148840"/>
            <a:ext cx="73152" cy="3401568"/>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45152" y="240487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0" name="TextBox 19"/>
          <p:cNvSpPr txBox="1"/>
          <p:nvPr/>
        </p:nvSpPr>
        <p:spPr>
          <a:xfrm>
            <a:off x="5257800"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REVIEWER</a:t>
            </a:r>
          </a:p>
        </p:txBody>
      </p:sp>
      <p:sp>
        <p:nvSpPr>
          <p:cNvPr id="21" name="TextBox 20"/>
          <p:cNvSpPr txBox="1"/>
          <p:nvPr/>
        </p:nvSpPr>
        <p:spPr>
          <a:xfrm>
            <a:off x="4681728"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Find concrete defects. Demand evidence. Ignore style noise.</a:t>
            </a:r>
          </a:p>
        </p:txBody>
      </p:sp>
      <p:sp>
        <p:nvSpPr>
          <p:cNvPr id="22" name="Rounded Rectangle 21"/>
          <p:cNvSpPr/>
          <p:nvPr/>
        </p:nvSpPr>
        <p:spPr>
          <a:xfrm>
            <a:off x="8211311" y="2148840"/>
            <a:ext cx="3493008" cy="340156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1" y="2148840"/>
            <a:ext cx="73152" cy="3401568"/>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67343" y="240487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67343"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6" name="TextBox 25"/>
          <p:cNvSpPr txBox="1"/>
          <p:nvPr/>
        </p:nvSpPr>
        <p:spPr>
          <a:xfrm>
            <a:off x="9079991"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OPERATOR</a:t>
            </a:r>
          </a:p>
        </p:txBody>
      </p:sp>
      <p:sp>
        <p:nvSpPr>
          <p:cNvPr id="27" name="TextBox 26"/>
          <p:cNvSpPr txBox="1"/>
          <p:nvPr/>
        </p:nvSpPr>
        <p:spPr>
          <a:xfrm>
            <a:off x="8503919"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Use tools carefully. Respect permissions. Verify completion.</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677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35</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SKILLS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Instructions, tools, and skills are different</a:t>
            </a:r>
          </a:p>
        </p:txBody>
      </p:sp>
      <p:sp>
        <p:nvSpPr>
          <p:cNvPr id="10" name="Rounded Rectangle 9"/>
          <p:cNvSpPr/>
          <p:nvPr/>
        </p:nvSpPr>
        <p:spPr>
          <a:xfrm>
            <a:off x="566928" y="2148840"/>
            <a:ext cx="3493008" cy="340156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48840"/>
            <a:ext cx="73152" cy="3401568"/>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240487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35607"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INSTRUCTION</a:t>
            </a:r>
          </a:p>
        </p:txBody>
      </p:sp>
      <p:sp>
        <p:nvSpPr>
          <p:cNvPr id="15" name="TextBox 14"/>
          <p:cNvSpPr txBox="1"/>
          <p:nvPr/>
        </p:nvSpPr>
        <p:spPr>
          <a:xfrm>
            <a:off x="859536"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A rule loaded when its scope applies.</a:t>
            </a:r>
          </a:p>
        </p:txBody>
      </p:sp>
      <p:sp>
        <p:nvSpPr>
          <p:cNvPr id="16" name="Rounded Rectangle 15"/>
          <p:cNvSpPr/>
          <p:nvPr/>
        </p:nvSpPr>
        <p:spPr>
          <a:xfrm>
            <a:off x="4389120" y="2148840"/>
            <a:ext cx="3493008" cy="340156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148840"/>
            <a:ext cx="73152" cy="3401568"/>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45152" y="240487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0" name="TextBox 19"/>
          <p:cNvSpPr txBox="1"/>
          <p:nvPr/>
        </p:nvSpPr>
        <p:spPr>
          <a:xfrm>
            <a:off x="5257800"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TOOL</a:t>
            </a:r>
          </a:p>
        </p:txBody>
      </p:sp>
      <p:sp>
        <p:nvSpPr>
          <p:cNvPr id="21" name="TextBox 20"/>
          <p:cNvSpPr txBox="1"/>
          <p:nvPr/>
        </p:nvSpPr>
        <p:spPr>
          <a:xfrm>
            <a:off x="4681728"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A capability the harness can execute.</a:t>
            </a:r>
          </a:p>
        </p:txBody>
      </p:sp>
      <p:sp>
        <p:nvSpPr>
          <p:cNvPr id="22" name="Rounded Rectangle 21"/>
          <p:cNvSpPr/>
          <p:nvPr/>
        </p:nvSpPr>
        <p:spPr>
          <a:xfrm>
            <a:off x="8211311" y="2148840"/>
            <a:ext cx="3493008" cy="3401568"/>
          </a:xfrm>
          <a:prstGeom prst="roundRect">
            <a:avLst/>
          </a:prstGeom>
          <a:solidFill>
            <a:srgbClr val="142442"/>
          </a:solidFill>
          <a:ln w="19050">
            <a:solidFill>
              <a:srgbClr val="55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1" y="2148840"/>
            <a:ext cx="73152" cy="3401568"/>
          </a:xfrm>
          <a:prstGeom prst="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67343" y="2404872"/>
            <a:ext cx="475488" cy="420624"/>
          </a:xfrm>
          <a:prstGeom prst="roundRect">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67343" y="240487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6" name="TextBox 25"/>
          <p:cNvSpPr txBox="1"/>
          <p:nvPr/>
        </p:nvSpPr>
        <p:spPr>
          <a:xfrm>
            <a:off x="9079991" y="2395728"/>
            <a:ext cx="2395728"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a:solidFill>
                  <a:srgbClr val="F7FAFF"/>
                </a:solidFill>
                <a:latin typeface="Bahnschrift SemiBold"/>
              </a:rPr>
              <a:t>SKILL</a:t>
            </a:r>
          </a:p>
        </p:txBody>
      </p:sp>
      <p:sp>
        <p:nvSpPr>
          <p:cNvPr id="27" name="TextBox 26"/>
          <p:cNvSpPr txBox="1"/>
          <p:nvPr/>
        </p:nvSpPr>
        <p:spPr>
          <a:xfrm>
            <a:off x="8503919" y="2990088"/>
            <a:ext cx="2962656" cy="23774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00" b="0">
                <a:solidFill>
                  <a:srgbClr val="D7E2F2"/>
                </a:solidFill>
                <a:latin typeface="Aptos"/>
              </a:rPr>
              <a:t>A reusable playbook for doing a specific job more consistently.</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C8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594360"/>
            <a:ext cx="201168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1">
                <a:solidFill>
                  <a:srgbClr val="FFC857"/>
                </a:solidFill>
                <a:latin typeface="Aptos"/>
              </a:rPr>
              <a:t>ACT 4</a:t>
            </a:r>
          </a:p>
        </p:txBody>
      </p:sp>
      <p:sp>
        <p:nvSpPr>
          <p:cNvPr id="7" name="TextBox 6"/>
          <p:cNvSpPr txBox="1"/>
          <p:nvPr/>
        </p:nvSpPr>
        <p:spPr>
          <a:xfrm>
            <a:off x="640080" y="1234440"/>
            <a:ext cx="10789920" cy="11887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400" b="1">
                <a:solidFill>
                  <a:srgbClr val="F7FAFF"/>
                </a:solidFill>
                <a:latin typeface="Bahnschrift SemiBold"/>
              </a:rPr>
              <a:t>Failure is part of the system</a:t>
            </a:r>
          </a:p>
        </p:txBody>
      </p:sp>
      <p:sp>
        <p:nvSpPr>
          <p:cNvPr id="8" name="TextBox 7"/>
          <p:cNvSpPr txBox="1"/>
          <p:nvPr/>
        </p:nvSpPr>
        <p:spPr>
          <a:xfrm>
            <a:off x="676656" y="2697480"/>
            <a:ext cx="9966960" cy="7315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300" b="0">
                <a:solidFill>
                  <a:srgbClr val="D7E2F2"/>
                </a:solidFill>
                <a:latin typeface="Aptos"/>
              </a:rPr>
              <a:t>Agentic tools need limits, boundaries, verification, and accountable humans</a:t>
            </a:r>
          </a:p>
        </p:txBody>
      </p:sp>
      <p:sp>
        <p:nvSpPr>
          <p:cNvPr id="9" name="TextBox 8"/>
          <p:cNvSpPr txBox="1"/>
          <p:nvPr/>
        </p:nvSpPr>
        <p:spPr>
          <a:xfrm>
            <a:off x="8641080" y="3794760"/>
            <a:ext cx="2514600" cy="1508760"/>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200" b="1">
                <a:solidFill>
                  <a:srgbClr val="FFC857"/>
                </a:solidFill>
                <a:latin typeface="Bahnschrift SemiBold"/>
              </a:rPr>
              <a:t>04</a:t>
            </a:r>
          </a:p>
        </p:txBody>
      </p:sp>
      <p:sp>
        <p:nvSpPr>
          <p:cNvPr id="10" name="Rectangle 9"/>
          <p:cNvSpPr/>
          <p:nvPr/>
        </p:nvSpPr>
        <p:spPr>
          <a:xfrm>
            <a:off x="8183879" y="5376672"/>
            <a:ext cx="2651760" cy="54864"/>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5559552"/>
            <a:ext cx="2011680" cy="54864"/>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83879" y="5742432"/>
            <a:ext cx="1371600" cy="54864"/>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C857"/>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37</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C857"/>
                </a:solidFill>
                <a:latin typeface="Aptos"/>
              </a:rPr>
              <a:t>FAILURE MODES</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When things go off the rails</a:t>
            </a:r>
          </a:p>
        </p:txBody>
      </p:sp>
      <p:sp>
        <p:nvSpPr>
          <p:cNvPr id="10" name="Rounded Rectangle 9"/>
          <p:cNvSpPr/>
          <p:nvPr/>
        </p:nvSpPr>
        <p:spPr>
          <a:xfrm>
            <a:off x="640080" y="2148840"/>
            <a:ext cx="5303520" cy="150876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359152"/>
            <a:ext cx="164592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6776"/>
                </a:solidFill>
                <a:latin typeface="Aptos"/>
              </a:rPr>
              <a:t>LOOP</a:t>
            </a:r>
          </a:p>
        </p:txBody>
      </p:sp>
      <p:sp>
        <p:nvSpPr>
          <p:cNvPr id="12" name="TextBox 11"/>
          <p:cNvSpPr txBox="1"/>
          <p:nvPr/>
        </p:nvSpPr>
        <p:spPr>
          <a:xfrm>
            <a:off x="896112" y="2715768"/>
            <a:ext cx="297180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a:solidFill>
                  <a:srgbClr val="F7FAFF"/>
                </a:solidFill>
                <a:latin typeface="Aptos"/>
              </a:rPr>
              <a:t>It never decides to stop</a:t>
            </a:r>
          </a:p>
        </p:txBody>
      </p:sp>
      <p:sp>
        <p:nvSpPr>
          <p:cNvPr id="13" name="TextBox 12"/>
          <p:cNvSpPr txBox="1"/>
          <p:nvPr/>
        </p:nvSpPr>
        <p:spPr>
          <a:xfrm>
            <a:off x="3950208" y="2642616"/>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0">
                <a:solidFill>
                  <a:srgbClr val="D7E2F2"/>
                </a:solidFill>
                <a:latin typeface="Aptos"/>
              </a:rPr>
              <a:t>Add iteration and time limits</a:t>
            </a:r>
          </a:p>
        </p:txBody>
      </p:sp>
      <p:sp>
        <p:nvSpPr>
          <p:cNvPr id="14" name="Rounded Rectangle 13"/>
          <p:cNvSpPr/>
          <p:nvPr/>
        </p:nvSpPr>
        <p:spPr>
          <a:xfrm>
            <a:off x="6236208" y="2148840"/>
            <a:ext cx="5303520" cy="150876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359152"/>
            <a:ext cx="164592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C857"/>
                </a:solidFill>
                <a:latin typeface="Aptos"/>
              </a:rPr>
              <a:t>INJECTION</a:t>
            </a:r>
          </a:p>
        </p:txBody>
      </p:sp>
      <p:sp>
        <p:nvSpPr>
          <p:cNvPr id="16" name="TextBox 15"/>
          <p:cNvSpPr txBox="1"/>
          <p:nvPr/>
        </p:nvSpPr>
        <p:spPr>
          <a:xfrm>
            <a:off x="6492240" y="2715768"/>
            <a:ext cx="297180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a:solidFill>
                  <a:srgbClr val="F7FAFF"/>
                </a:solidFill>
                <a:latin typeface="Aptos"/>
              </a:rPr>
              <a:t>Untrusted data acts like an order</a:t>
            </a:r>
          </a:p>
        </p:txBody>
      </p:sp>
      <p:sp>
        <p:nvSpPr>
          <p:cNvPr id="17" name="TextBox 16"/>
          <p:cNvSpPr txBox="1"/>
          <p:nvPr/>
        </p:nvSpPr>
        <p:spPr>
          <a:xfrm>
            <a:off x="9546336" y="2642616"/>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0">
                <a:solidFill>
                  <a:srgbClr val="D7E2F2"/>
                </a:solidFill>
                <a:latin typeface="Aptos"/>
              </a:rPr>
              <a:t>Restrict, validate, approve</a:t>
            </a:r>
          </a:p>
        </p:txBody>
      </p:sp>
      <p:sp>
        <p:nvSpPr>
          <p:cNvPr id="18" name="Rounded Rectangle 17"/>
          <p:cNvSpPr/>
          <p:nvPr/>
        </p:nvSpPr>
        <p:spPr>
          <a:xfrm>
            <a:off x="640080" y="4069080"/>
            <a:ext cx="5303520" cy="150876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279392"/>
            <a:ext cx="164592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A778FF"/>
                </a:solidFill>
                <a:latin typeface="Aptos"/>
              </a:rPr>
              <a:t>HALLUCINATION</a:t>
            </a:r>
          </a:p>
        </p:txBody>
      </p:sp>
      <p:sp>
        <p:nvSpPr>
          <p:cNvPr id="20" name="TextBox 19"/>
          <p:cNvSpPr txBox="1"/>
          <p:nvPr/>
        </p:nvSpPr>
        <p:spPr>
          <a:xfrm>
            <a:off x="896112" y="4636008"/>
            <a:ext cx="297180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a:solidFill>
                  <a:srgbClr val="F7FAFF"/>
                </a:solidFill>
                <a:latin typeface="Aptos"/>
              </a:rPr>
              <a:t>Plausible becomes false</a:t>
            </a:r>
          </a:p>
        </p:txBody>
      </p:sp>
      <p:sp>
        <p:nvSpPr>
          <p:cNvPr id="21" name="TextBox 20"/>
          <p:cNvSpPr txBox="1"/>
          <p:nvPr/>
        </p:nvSpPr>
        <p:spPr>
          <a:xfrm>
            <a:off x="3950208" y="4562856"/>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0">
                <a:solidFill>
                  <a:srgbClr val="D7E2F2"/>
                </a:solidFill>
                <a:latin typeface="Aptos"/>
              </a:rPr>
              <a:t>Ground, test, verify</a:t>
            </a:r>
          </a:p>
        </p:txBody>
      </p:sp>
      <p:sp>
        <p:nvSpPr>
          <p:cNvPr id="22" name="Rounded Rectangle 21"/>
          <p:cNvSpPr/>
          <p:nvPr/>
        </p:nvSpPr>
        <p:spPr>
          <a:xfrm>
            <a:off x="6236208" y="4069080"/>
            <a:ext cx="5303520" cy="1508760"/>
          </a:xfrm>
          <a:prstGeom prst="roundRect">
            <a:avLst/>
          </a:prstGeom>
          <a:solidFill>
            <a:srgbClr val="142442"/>
          </a:solidFill>
          <a:ln w="19050">
            <a:solidFill>
              <a:srgbClr val="4C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279392"/>
            <a:ext cx="164592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4C8DFF"/>
                </a:solidFill>
                <a:latin typeface="Aptos"/>
              </a:rPr>
              <a:t>OVERLOAD</a:t>
            </a:r>
          </a:p>
        </p:txBody>
      </p:sp>
      <p:sp>
        <p:nvSpPr>
          <p:cNvPr id="24" name="TextBox 23"/>
          <p:cNvSpPr txBox="1"/>
          <p:nvPr/>
        </p:nvSpPr>
        <p:spPr>
          <a:xfrm>
            <a:off x="6492240" y="4636008"/>
            <a:ext cx="297180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a:solidFill>
                  <a:srgbClr val="F7FAFF"/>
                </a:solidFill>
                <a:latin typeface="Aptos"/>
              </a:rPr>
              <a:t>Important context disappears</a:t>
            </a:r>
          </a:p>
        </p:txBody>
      </p:sp>
      <p:sp>
        <p:nvSpPr>
          <p:cNvPr id="25" name="TextBox 24"/>
          <p:cNvSpPr txBox="1"/>
          <p:nvPr/>
        </p:nvSpPr>
        <p:spPr>
          <a:xfrm>
            <a:off x="9546336" y="4562856"/>
            <a:ext cx="1691640" cy="658368"/>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0">
                <a:solidFill>
                  <a:srgbClr val="D7E2F2"/>
                </a:solidFill>
                <a:latin typeface="Aptos"/>
              </a:rPr>
              <a:t>Compress, retrieve, restate</a:t>
            </a:r>
          </a:p>
        </p:txBody>
      </p:sp>
      <p:sp>
        <p:nvSpPr>
          <p:cNvPr id="26" name="TextBox 25"/>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7" name="TextBox 26"/>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C857"/>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38</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C857"/>
                </a:solidFill>
                <a:latin typeface="Aptos"/>
              </a:rPr>
              <a:t>PROMPT INJECTION</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Instructions and untrusted data are not the same</a:t>
            </a:r>
          </a:p>
        </p:txBody>
      </p:sp>
      <p:sp>
        <p:nvSpPr>
          <p:cNvPr id="10" name="Rounded Rectangle 9"/>
          <p:cNvSpPr/>
          <p:nvPr/>
        </p:nvSpPr>
        <p:spPr>
          <a:xfrm>
            <a:off x="566928" y="1975104"/>
            <a:ext cx="5330952" cy="38862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2DE2E6"/>
                </a:solidFill>
                <a:latin typeface="Aptos"/>
              </a:rPr>
              <a:t>AUTHORITY</a:t>
            </a:r>
          </a:p>
        </p:txBody>
      </p:sp>
      <p:sp>
        <p:nvSpPr>
          <p:cNvPr id="12" name="TextBox 11"/>
          <p:cNvSpPr txBox="1"/>
          <p:nvPr/>
        </p:nvSpPr>
        <p:spPr>
          <a:xfrm>
            <a:off x="886968"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TRUSTED INSTRUCTIONS</a:t>
            </a:r>
          </a:p>
        </p:txBody>
      </p:sp>
      <p:sp>
        <p:nvSpPr>
          <p:cNvPr id="13" name="Oval 12"/>
          <p:cNvSpPr/>
          <p:nvPr/>
        </p:nvSpPr>
        <p:spPr>
          <a:xfrm>
            <a:off x="914400" y="3429000"/>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5"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System and project rules</a:t>
            </a:r>
          </a:p>
        </p:txBody>
      </p:sp>
      <p:sp>
        <p:nvSpPr>
          <p:cNvPr id="15" name="Oval 14"/>
          <p:cNvSpPr/>
          <p:nvPr/>
        </p:nvSpPr>
        <p:spPr>
          <a:xfrm>
            <a:off x="914400" y="4087368"/>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5"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Defined by the host</a:t>
            </a:r>
          </a:p>
        </p:txBody>
      </p:sp>
      <p:sp>
        <p:nvSpPr>
          <p:cNvPr id="17" name="Oval 16"/>
          <p:cNvSpPr/>
          <p:nvPr/>
        </p:nvSpPr>
        <p:spPr>
          <a:xfrm>
            <a:off x="914400" y="4745736"/>
            <a:ext cx="164592" cy="164592"/>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5"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Intended to control behavior</a:t>
            </a:r>
          </a:p>
        </p:txBody>
      </p:sp>
      <p:sp>
        <p:nvSpPr>
          <p:cNvPr id="19" name="Rounded Rectangle 18"/>
          <p:cNvSpPr/>
          <p:nvPr/>
        </p:nvSpPr>
        <p:spPr>
          <a:xfrm>
            <a:off x="6291072" y="1975104"/>
            <a:ext cx="5330952" cy="38862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2221992"/>
            <a:ext cx="219456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a:solidFill>
                  <a:srgbClr val="A778FF"/>
                </a:solidFill>
                <a:latin typeface="Aptos"/>
              </a:rPr>
              <a:t>DATA</a:t>
            </a:r>
          </a:p>
        </p:txBody>
      </p:sp>
      <p:sp>
        <p:nvSpPr>
          <p:cNvPr id="21" name="TextBox 20"/>
          <p:cNvSpPr txBox="1"/>
          <p:nvPr/>
        </p:nvSpPr>
        <p:spPr>
          <a:xfrm>
            <a:off x="6611112" y="2587752"/>
            <a:ext cx="4663440" cy="5486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700" b="1">
                <a:solidFill>
                  <a:srgbClr val="F7FAFF"/>
                </a:solidFill>
                <a:latin typeface="Bahnschrift SemiBold"/>
              </a:rPr>
              <a:t>UNTRUSTED CONTENT</a:t>
            </a:r>
          </a:p>
        </p:txBody>
      </p:sp>
      <p:sp>
        <p:nvSpPr>
          <p:cNvPr id="22" name="Oval 21"/>
          <p:cNvSpPr/>
          <p:nvPr/>
        </p:nvSpPr>
        <p:spPr>
          <a:xfrm>
            <a:off x="6638544" y="3429000"/>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300984"/>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Web pages and files</a:t>
            </a:r>
          </a:p>
        </p:txBody>
      </p:sp>
      <p:sp>
        <p:nvSpPr>
          <p:cNvPr id="24" name="Oval 23"/>
          <p:cNvSpPr/>
          <p:nvPr/>
        </p:nvSpPr>
        <p:spPr>
          <a:xfrm>
            <a:off x="6638544" y="4087368"/>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3959352"/>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May say "ignore the rules"</a:t>
            </a:r>
          </a:p>
        </p:txBody>
      </p:sp>
      <p:sp>
        <p:nvSpPr>
          <p:cNvPr id="26" name="Oval 25"/>
          <p:cNvSpPr/>
          <p:nvPr/>
        </p:nvSpPr>
        <p:spPr>
          <a:xfrm>
            <a:off x="6638544" y="4745736"/>
            <a:ext cx="164592" cy="164592"/>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4617720"/>
            <a:ext cx="431596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a:solidFill>
                  <a:srgbClr val="D7E2F2"/>
                </a:solidFill>
                <a:latin typeface="Aptos"/>
              </a:rPr>
              <a:t>Must not gain authority</a:t>
            </a:r>
          </a:p>
        </p:txBody>
      </p:sp>
      <p:sp>
        <p:nvSpPr>
          <p:cNvPr id="28" name="TextBox 27"/>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29" name="TextBox 28"/>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FFC857"/>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39</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FFC857"/>
                </a:solidFill>
                <a:latin typeface="Aptos"/>
              </a:rPr>
              <a:t>RESPONSIBLE USE</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Four habits worth keeping</a:t>
            </a:r>
          </a:p>
        </p:txBody>
      </p:sp>
      <p:sp>
        <p:nvSpPr>
          <p:cNvPr id="10" name="Rounded Rectangle 9"/>
          <p:cNvSpPr/>
          <p:nvPr/>
        </p:nvSpPr>
        <p:spPr>
          <a:xfrm>
            <a:off x="585216" y="2331720"/>
            <a:ext cx="2596896" cy="251460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2331720"/>
            <a:ext cx="73152" cy="25146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2587752"/>
            <a:ext cx="475488" cy="420624"/>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1</a:t>
            </a:r>
          </a:p>
        </p:txBody>
      </p:sp>
      <p:sp>
        <p:nvSpPr>
          <p:cNvPr id="14" name="TextBox 13"/>
          <p:cNvSpPr txBox="1"/>
          <p:nvPr/>
        </p:nvSpPr>
        <p:spPr>
          <a:xfrm>
            <a:off x="1453895"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PROTECT</a:t>
            </a:r>
          </a:p>
        </p:txBody>
      </p:sp>
      <p:sp>
        <p:nvSpPr>
          <p:cNvPr id="15" name="TextBox 14"/>
          <p:cNvSpPr txBox="1"/>
          <p:nvPr/>
        </p:nvSpPr>
        <p:spPr>
          <a:xfrm>
            <a:off x="877824"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Do not paste secrets, credentials, private records, or data you cannot share.</a:t>
            </a:r>
          </a:p>
        </p:txBody>
      </p:sp>
      <p:cxnSp>
        <p:nvCxnSpPr>
          <p:cNvPr id="16" name="Connector 15"/>
          <p:cNvCxnSpPr/>
          <p:nvPr/>
        </p:nvCxnSpPr>
        <p:spPr>
          <a:xfrm>
            <a:off x="3200400"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92424" y="2331720"/>
            <a:ext cx="2596896" cy="2514600"/>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2424" y="2331720"/>
            <a:ext cx="73152" cy="2514600"/>
          </a:xfrm>
          <a:prstGeom prst="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48456" y="2587752"/>
            <a:ext cx="475488" cy="420624"/>
          </a:xfrm>
          <a:prstGeom prst="roundRect">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8456"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2</a:t>
            </a:r>
          </a:p>
        </p:txBody>
      </p:sp>
      <p:sp>
        <p:nvSpPr>
          <p:cNvPr id="21" name="TextBox 20"/>
          <p:cNvSpPr txBox="1"/>
          <p:nvPr/>
        </p:nvSpPr>
        <p:spPr>
          <a:xfrm>
            <a:off x="4261104"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VERIFY</a:t>
            </a:r>
          </a:p>
        </p:txBody>
      </p:sp>
      <p:sp>
        <p:nvSpPr>
          <p:cNvPr id="22" name="TextBox 21"/>
          <p:cNvSpPr txBox="1"/>
          <p:nvPr/>
        </p:nvSpPr>
        <p:spPr>
          <a:xfrm>
            <a:off x="3685032"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Check consequential facts, code, calculations, and citations.</a:t>
            </a:r>
          </a:p>
        </p:txBody>
      </p:sp>
      <p:cxnSp>
        <p:nvCxnSpPr>
          <p:cNvPr id="23" name="Connector 22"/>
          <p:cNvCxnSpPr/>
          <p:nvPr/>
        </p:nvCxnSpPr>
        <p:spPr>
          <a:xfrm>
            <a:off x="6007608"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99632" y="2331720"/>
            <a:ext cx="2596896" cy="2514600"/>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2331720"/>
            <a:ext cx="73152" cy="2514600"/>
          </a:xfrm>
          <a:prstGeom prst="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55664" y="2587752"/>
            <a:ext cx="475488" cy="420624"/>
          </a:xfrm>
          <a:prstGeom prst="roundRect">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55664"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3</a:t>
            </a:r>
          </a:p>
        </p:txBody>
      </p:sp>
      <p:sp>
        <p:nvSpPr>
          <p:cNvPr id="28" name="TextBox 27"/>
          <p:cNvSpPr txBox="1"/>
          <p:nvPr/>
        </p:nvSpPr>
        <p:spPr>
          <a:xfrm>
            <a:off x="7068312"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LIMIT</a:t>
            </a:r>
          </a:p>
        </p:txBody>
      </p:sp>
      <p:sp>
        <p:nvSpPr>
          <p:cNvPr id="29" name="TextBox 28"/>
          <p:cNvSpPr txBox="1"/>
          <p:nvPr/>
        </p:nvSpPr>
        <p:spPr>
          <a:xfrm>
            <a:off x="6492240"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Give agents the minimum permissions and time they need.</a:t>
            </a:r>
          </a:p>
        </p:txBody>
      </p:sp>
      <p:cxnSp>
        <p:nvCxnSpPr>
          <p:cNvPr id="30" name="Connector 29"/>
          <p:cNvCxnSpPr/>
          <p:nvPr/>
        </p:nvCxnSpPr>
        <p:spPr>
          <a:xfrm>
            <a:off x="8814816" y="3584448"/>
            <a:ext cx="155448" cy="0"/>
          </a:xfrm>
          <a:prstGeom prst="line">
            <a:avLst/>
          </a:prstGeom>
          <a:ln w="19050">
            <a:solidFill>
              <a:srgbClr val="8FA4C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006840" y="2331720"/>
            <a:ext cx="2596896" cy="2514600"/>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06840" y="2331720"/>
            <a:ext cx="73152" cy="2514600"/>
          </a:xfrm>
          <a:prstGeom prst="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62872" y="2587752"/>
            <a:ext cx="475488" cy="420624"/>
          </a:xfrm>
          <a:prstGeom prst="roundRect">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62872" y="2587752"/>
            <a:ext cx="475488" cy="42062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200" b="1">
                <a:solidFill>
                  <a:srgbClr val="081022"/>
                </a:solidFill>
                <a:latin typeface="Aptos"/>
              </a:rPr>
              <a:t>4</a:t>
            </a:r>
          </a:p>
        </p:txBody>
      </p:sp>
      <p:sp>
        <p:nvSpPr>
          <p:cNvPr id="35" name="TextBox 34"/>
          <p:cNvSpPr txBox="1"/>
          <p:nvPr/>
        </p:nvSpPr>
        <p:spPr>
          <a:xfrm>
            <a:off x="9875520" y="2578608"/>
            <a:ext cx="1499616" cy="43891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00" b="1">
                <a:solidFill>
                  <a:srgbClr val="F7FAFF"/>
                </a:solidFill>
                <a:latin typeface="Bahnschrift SemiBold"/>
              </a:rPr>
              <a:t>OWN IT</a:t>
            </a:r>
          </a:p>
        </p:txBody>
      </p:sp>
      <p:sp>
        <p:nvSpPr>
          <p:cNvPr id="36" name="TextBox 35"/>
          <p:cNvSpPr txBox="1"/>
          <p:nvPr/>
        </p:nvSpPr>
        <p:spPr>
          <a:xfrm>
            <a:off x="9299448" y="3172968"/>
            <a:ext cx="2066544" cy="149047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200" b="0">
                <a:solidFill>
                  <a:srgbClr val="D7E2F2"/>
                </a:solidFill>
                <a:latin typeface="Aptos"/>
              </a:rPr>
              <a:t>A human remains accountable for the final decision and its consequences.</a:t>
            </a:r>
          </a:p>
        </p:txBody>
      </p:sp>
      <p:sp>
        <p:nvSpPr>
          <p:cNvPr id="37" name="Rounded Rectangle 36"/>
          <p:cNvSpPr/>
          <p:nvPr/>
        </p:nvSpPr>
        <p:spPr>
          <a:xfrm>
            <a:off x="1051560" y="5230368"/>
            <a:ext cx="10104120" cy="566928"/>
          </a:xfrm>
          <a:prstGeom prst="roundRect">
            <a:avLst/>
          </a:prstGeom>
          <a:solidFill>
            <a:srgbClr val="0E1A33"/>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5349240"/>
            <a:ext cx="9738360"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500" b="1">
                <a:solidFill>
                  <a:srgbClr val="F7FAFF"/>
                </a:solidFill>
                <a:latin typeface="Aptos"/>
              </a:rPr>
              <a:t>Capability grows faster than trust. Keep the human accountable.</a:t>
            </a:r>
          </a:p>
        </p:txBody>
      </p:sp>
      <p:sp>
        <p:nvSpPr>
          <p:cNvPr id="39" name="TextBox 38"/>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0" name="TextBox 39"/>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384048"/>
            <a:ext cx="457200" cy="347472"/>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34747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100" b="1">
                <a:solidFill>
                  <a:srgbClr val="081022"/>
                </a:solidFill>
                <a:latin typeface="Aptos"/>
              </a:rPr>
              <a:t>40</a:t>
            </a:r>
          </a:p>
        </p:txBody>
      </p:sp>
      <p:sp>
        <p:nvSpPr>
          <p:cNvPr id="8" name="TextBox 7"/>
          <p:cNvSpPr txBox="1"/>
          <p:nvPr/>
        </p:nvSpPr>
        <p:spPr>
          <a:xfrm>
            <a:off x="1005840" y="429768"/>
            <a:ext cx="594360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a:solidFill>
                  <a:srgbClr val="2DE2E6"/>
                </a:solidFill>
                <a:latin typeface="Aptos"/>
              </a:rPr>
              <a:t>TAKEAWAY</a:t>
            </a:r>
          </a:p>
        </p:txBody>
      </p:sp>
      <p:sp>
        <p:nvSpPr>
          <p:cNvPr id="9" name="TextBox 8"/>
          <p:cNvSpPr txBox="1"/>
          <p:nvPr/>
        </p:nvSpPr>
        <p:spPr>
          <a:xfrm>
            <a:off x="566928" y="822960"/>
            <a:ext cx="109728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100" b="1">
                <a:solidFill>
                  <a:srgbClr val="F7FAFF"/>
                </a:solidFill>
                <a:latin typeface="Bahnschrift SemiBold"/>
              </a:rPr>
              <a:t>The whole system in one picture</a:t>
            </a:r>
          </a:p>
        </p:txBody>
      </p:sp>
      <p:sp>
        <p:nvSpPr>
          <p:cNvPr id="10" name="Rounded Rectangle 9"/>
          <p:cNvSpPr/>
          <p:nvPr/>
        </p:nvSpPr>
        <p:spPr>
          <a:xfrm>
            <a:off x="502920" y="2331720"/>
            <a:ext cx="2084831" cy="2395728"/>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97864" y="2651760"/>
            <a:ext cx="694944" cy="694944"/>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97864" y="2651760"/>
            <a:ext cx="694944" cy="69494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1</a:t>
            </a:r>
          </a:p>
        </p:txBody>
      </p:sp>
      <p:sp>
        <p:nvSpPr>
          <p:cNvPr id="13" name="TextBox 12"/>
          <p:cNvSpPr txBox="1"/>
          <p:nvPr/>
        </p:nvSpPr>
        <p:spPr>
          <a:xfrm>
            <a:off x="685800" y="3538728"/>
            <a:ext cx="1719072"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F7FAFF"/>
                </a:solidFill>
                <a:latin typeface="Aptos"/>
              </a:rPr>
              <a:t>MODEL</a:t>
            </a:r>
          </a:p>
        </p:txBody>
      </p:sp>
      <p:sp>
        <p:nvSpPr>
          <p:cNvPr id="14" name="TextBox 13"/>
          <p:cNvSpPr txBox="1"/>
          <p:nvPr/>
        </p:nvSpPr>
        <p:spPr>
          <a:xfrm>
            <a:off x="685800" y="3950208"/>
            <a:ext cx="1719072" cy="56692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00" b="0">
                <a:solidFill>
                  <a:srgbClr val="D7E2F2"/>
                </a:solidFill>
                <a:latin typeface="Aptos"/>
              </a:rPr>
              <a:t>Predicts the next token</a:t>
            </a:r>
          </a:p>
        </p:txBody>
      </p:sp>
      <p:cxnSp>
        <p:nvCxnSpPr>
          <p:cNvPr id="15" name="Connector 14"/>
          <p:cNvCxnSpPr/>
          <p:nvPr/>
        </p:nvCxnSpPr>
        <p:spPr>
          <a:xfrm>
            <a:off x="2596896" y="3529584"/>
            <a:ext cx="246888" cy="0"/>
          </a:xfrm>
          <a:prstGeom prst="line">
            <a:avLst/>
          </a:prstGeom>
          <a:ln w="16510">
            <a:solidFill>
              <a:srgbClr val="8FA4C2"/>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62072" y="2331720"/>
            <a:ext cx="2084831" cy="2395728"/>
          </a:xfrm>
          <a:prstGeom prst="roundRect">
            <a:avLst/>
          </a:prstGeom>
          <a:solidFill>
            <a:srgbClr val="142442"/>
          </a:solidFill>
          <a:ln w="19050">
            <a:solidFill>
              <a:srgbClr val="A7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57015" y="2651760"/>
            <a:ext cx="694944" cy="694944"/>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7015" y="2651760"/>
            <a:ext cx="694944" cy="69494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2</a:t>
            </a:r>
          </a:p>
        </p:txBody>
      </p:sp>
      <p:sp>
        <p:nvSpPr>
          <p:cNvPr id="19" name="TextBox 18"/>
          <p:cNvSpPr txBox="1"/>
          <p:nvPr/>
        </p:nvSpPr>
        <p:spPr>
          <a:xfrm>
            <a:off x="3044952" y="3538728"/>
            <a:ext cx="1719072"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F7FAFF"/>
                </a:solidFill>
                <a:latin typeface="Aptos"/>
              </a:rPr>
              <a:t>CONTEXT</a:t>
            </a:r>
          </a:p>
        </p:txBody>
      </p:sp>
      <p:sp>
        <p:nvSpPr>
          <p:cNvPr id="20" name="TextBox 19"/>
          <p:cNvSpPr txBox="1"/>
          <p:nvPr/>
        </p:nvSpPr>
        <p:spPr>
          <a:xfrm>
            <a:off x="3044952" y="3950208"/>
            <a:ext cx="1719072" cy="56692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00" b="0">
                <a:solidFill>
                  <a:srgbClr val="D7E2F2"/>
                </a:solidFill>
                <a:latin typeface="Aptos"/>
              </a:rPr>
              <a:t>Supplies the working information</a:t>
            </a:r>
          </a:p>
        </p:txBody>
      </p:sp>
      <p:cxnSp>
        <p:nvCxnSpPr>
          <p:cNvPr id="21" name="Connector 20"/>
          <p:cNvCxnSpPr/>
          <p:nvPr/>
        </p:nvCxnSpPr>
        <p:spPr>
          <a:xfrm>
            <a:off x="4956048" y="3529584"/>
            <a:ext cx="246888" cy="0"/>
          </a:xfrm>
          <a:prstGeom prst="line">
            <a:avLst/>
          </a:prstGeom>
          <a:ln w="16510">
            <a:solidFill>
              <a:srgbClr val="8FA4C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221224" y="2331720"/>
            <a:ext cx="2084831" cy="2395728"/>
          </a:xfrm>
          <a:prstGeom prst="roundRect">
            <a:avLst/>
          </a:prstGeom>
          <a:solidFill>
            <a:srgbClr val="142442"/>
          </a:solidFill>
          <a:ln w="19050">
            <a:solidFill>
              <a:srgbClr val="4C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16168" y="2651760"/>
            <a:ext cx="694944" cy="694944"/>
          </a:xfrm>
          <a:prstGeom prst="ellipse">
            <a:avLst/>
          </a:prstGeom>
          <a:solidFill>
            <a:srgbClr val="4C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16168" y="2651760"/>
            <a:ext cx="694944" cy="69494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3</a:t>
            </a:r>
          </a:p>
        </p:txBody>
      </p:sp>
      <p:sp>
        <p:nvSpPr>
          <p:cNvPr id="25" name="TextBox 24"/>
          <p:cNvSpPr txBox="1"/>
          <p:nvPr/>
        </p:nvSpPr>
        <p:spPr>
          <a:xfrm>
            <a:off x="5404104" y="3538728"/>
            <a:ext cx="1719072"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F7FAFF"/>
                </a:solidFill>
                <a:latin typeface="Aptos"/>
              </a:rPr>
              <a:t>HARNESS</a:t>
            </a:r>
          </a:p>
        </p:txBody>
      </p:sp>
      <p:sp>
        <p:nvSpPr>
          <p:cNvPr id="26" name="TextBox 25"/>
          <p:cNvSpPr txBox="1"/>
          <p:nvPr/>
        </p:nvSpPr>
        <p:spPr>
          <a:xfrm>
            <a:off x="5404104" y="3950208"/>
            <a:ext cx="1719072" cy="56692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00" b="0">
                <a:solidFill>
                  <a:srgbClr val="D7E2F2"/>
                </a:solidFill>
                <a:latin typeface="Aptos"/>
              </a:rPr>
              <a:t>Builds the loop and enforces rules</a:t>
            </a:r>
          </a:p>
        </p:txBody>
      </p:sp>
      <p:cxnSp>
        <p:nvCxnSpPr>
          <p:cNvPr id="27" name="Connector 26"/>
          <p:cNvCxnSpPr/>
          <p:nvPr/>
        </p:nvCxnSpPr>
        <p:spPr>
          <a:xfrm>
            <a:off x="7315200" y="3529584"/>
            <a:ext cx="246888" cy="0"/>
          </a:xfrm>
          <a:prstGeom prst="line">
            <a:avLst/>
          </a:prstGeom>
          <a:ln w="16510">
            <a:solidFill>
              <a:srgbClr val="8FA4C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580375" y="2331720"/>
            <a:ext cx="2084831" cy="2395728"/>
          </a:xfrm>
          <a:prstGeom prst="roundRect">
            <a:avLst/>
          </a:prstGeom>
          <a:solidFill>
            <a:srgbClr val="142442"/>
          </a:solidFill>
          <a:ln w="19050">
            <a:solidFill>
              <a:srgbClr val="FF67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75319" y="2651760"/>
            <a:ext cx="694944" cy="694944"/>
          </a:xfrm>
          <a:prstGeom prst="ellipse">
            <a:avLst/>
          </a:prstGeom>
          <a:solidFill>
            <a:srgbClr val="FF67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19" y="2651760"/>
            <a:ext cx="694944" cy="69494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4</a:t>
            </a:r>
          </a:p>
        </p:txBody>
      </p:sp>
      <p:sp>
        <p:nvSpPr>
          <p:cNvPr id="31" name="TextBox 30"/>
          <p:cNvSpPr txBox="1"/>
          <p:nvPr/>
        </p:nvSpPr>
        <p:spPr>
          <a:xfrm>
            <a:off x="7763255" y="3538728"/>
            <a:ext cx="1719072"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F7FAFF"/>
                </a:solidFill>
                <a:latin typeface="Aptos"/>
              </a:rPr>
              <a:t>TOOLS</a:t>
            </a:r>
          </a:p>
        </p:txBody>
      </p:sp>
      <p:sp>
        <p:nvSpPr>
          <p:cNvPr id="32" name="TextBox 31"/>
          <p:cNvSpPr txBox="1"/>
          <p:nvPr/>
        </p:nvSpPr>
        <p:spPr>
          <a:xfrm>
            <a:off x="7763255" y="3950208"/>
            <a:ext cx="1719072" cy="56692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00" b="0">
                <a:solidFill>
                  <a:srgbClr val="D7E2F2"/>
                </a:solidFill>
                <a:latin typeface="Aptos"/>
              </a:rPr>
              <a:t>Connect the loop to the world</a:t>
            </a:r>
          </a:p>
        </p:txBody>
      </p:sp>
      <p:cxnSp>
        <p:nvCxnSpPr>
          <p:cNvPr id="33" name="Connector 32"/>
          <p:cNvCxnSpPr/>
          <p:nvPr/>
        </p:nvCxnSpPr>
        <p:spPr>
          <a:xfrm>
            <a:off x="9674351" y="3529584"/>
            <a:ext cx="246889" cy="0"/>
          </a:xfrm>
          <a:prstGeom prst="line">
            <a:avLst/>
          </a:prstGeom>
          <a:ln w="16510">
            <a:solidFill>
              <a:srgbClr val="8FA4C2"/>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939528" y="2331720"/>
            <a:ext cx="2084831" cy="2395728"/>
          </a:xfrm>
          <a:prstGeom prst="roundRect">
            <a:avLst/>
          </a:prstGeom>
          <a:solidFill>
            <a:srgbClr val="142442"/>
          </a:solidFill>
          <a:ln w="19050">
            <a:solidFill>
              <a:srgbClr val="FFC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634472" y="2651760"/>
            <a:ext cx="694944" cy="694944"/>
          </a:xfrm>
          <a:prstGeom prst="ellipse">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34472" y="2651760"/>
            <a:ext cx="694944" cy="694944"/>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081022"/>
                </a:solidFill>
                <a:latin typeface="Aptos"/>
              </a:rPr>
              <a:t>5</a:t>
            </a:r>
          </a:p>
        </p:txBody>
      </p:sp>
      <p:sp>
        <p:nvSpPr>
          <p:cNvPr id="37" name="TextBox 36"/>
          <p:cNvSpPr txBox="1"/>
          <p:nvPr/>
        </p:nvSpPr>
        <p:spPr>
          <a:xfrm>
            <a:off x="10122407" y="3538728"/>
            <a:ext cx="1719072" cy="32004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400" b="1">
                <a:solidFill>
                  <a:srgbClr val="F7FAFF"/>
                </a:solidFill>
                <a:latin typeface="Aptos"/>
              </a:rPr>
              <a:t>HUMAN</a:t>
            </a:r>
          </a:p>
        </p:txBody>
      </p:sp>
      <p:sp>
        <p:nvSpPr>
          <p:cNvPr id="38" name="TextBox 37"/>
          <p:cNvSpPr txBox="1"/>
          <p:nvPr/>
        </p:nvSpPr>
        <p:spPr>
          <a:xfrm>
            <a:off x="10122407" y="3950208"/>
            <a:ext cx="1719072" cy="56692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00" b="0">
                <a:solidFill>
                  <a:srgbClr val="D7E2F2"/>
                </a:solidFill>
                <a:latin typeface="Aptos"/>
              </a:rPr>
              <a:t>Chooses goals and verifies results</a:t>
            </a:r>
          </a:p>
        </p:txBody>
      </p:sp>
      <p:sp>
        <p:nvSpPr>
          <p:cNvPr id="39" name="TextBox 38"/>
          <p:cNvSpPr txBox="1"/>
          <p:nvPr/>
        </p:nvSpPr>
        <p:spPr>
          <a:xfrm>
            <a:off x="1097280" y="5349240"/>
            <a:ext cx="9966960" cy="50292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2100" b="1">
                <a:solidFill>
                  <a:srgbClr val="F7FAFF"/>
                </a:solidFill>
                <a:latin typeface="Aptos"/>
              </a:rPr>
              <a:t>The product you experience is all five - not the model alone.</a:t>
            </a:r>
          </a:p>
        </p:txBody>
      </p:sp>
      <p:sp>
        <p:nvSpPr>
          <p:cNvPr id="40" name="TextBox 39"/>
          <p:cNvSpPr txBox="1"/>
          <p:nvPr/>
        </p:nvSpPr>
        <p:spPr>
          <a:xfrm>
            <a:off x="566928" y="6501384"/>
            <a:ext cx="2926080" cy="1828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800" b="1">
                <a:solidFill>
                  <a:srgbClr val="8FA4C2"/>
                </a:solidFill>
                <a:latin typeface="Aptos"/>
              </a:rPr>
              <a:t>AI FOUNDATIONS</a:t>
            </a:r>
          </a:p>
        </p:txBody>
      </p:sp>
      <p:sp>
        <p:nvSpPr>
          <p:cNvPr id="41" name="TextBox 40"/>
          <p:cNvSpPr txBox="1"/>
          <p:nvPr/>
        </p:nvSpPr>
        <p:spPr>
          <a:xfrm>
            <a:off x="11109960" y="6473952"/>
            <a:ext cx="502920" cy="210312"/>
          </a:xfrm>
          <a:prstGeom prst="rect">
            <a:avLst/>
          </a:prstGeom>
          <a:noFill/>
        </p:spPr>
        <p:txBody>
          <a:bodyPr wrap="square" lIns="18288" rIns="18288" tIns="18288" bIns="18288" anchor="t">
            <a:spAutoFit/>
          </a:bodyPr>
          <a:lstStyle/>
          <a:p>
            <a:pPr algn="r">
              <a:lnSpc>
                <a:spcPct val="100000"/>
              </a:lnSpc>
              <a:spcBef>
                <a:spcPts val="0"/>
              </a:spcBef>
              <a:spcAft>
                <a:spcPts val="0"/>
              </a:spcAft>
            </a:pPr>
            <a:r>
              <a:rPr sz="900" b="1">
                <a:solidFill>
                  <a:srgbClr val="8FA4C2"/>
                </a:solidFill>
                <a:latin typeface="Apto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81022"/>
        </a:solidFill>
        <a:effectLst/>
      </p:bgPr>
    </p:bg>
    <p:spTree>
      <p:nvGrpSpPr>
        <p:cNvPr id="1" name=""/>
        <p:cNvGrpSpPr/>
        <p:nvPr/>
      </p:nvGrpSpPr>
      <p:grpSpPr/>
      <p:sp>
        <p:nvSpPr>
          <p:cNvPr id="2" name="Rounded Rectangle 1"/>
          <p:cNvSpPr/>
          <p:nvPr/>
        </p:nvSpPr>
        <p:spPr>
          <a:xfrm>
            <a:off x="10744200" y="-320040"/>
            <a:ext cx="1783080" cy="205740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537960"/>
            <a:ext cx="2194560" cy="502920"/>
          </a:xfrm>
          <a:prstGeom prst="round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 cy="6858000"/>
          </a:xfrm>
          <a:prstGeom prst="rect">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566928" y="6291072"/>
            <a:ext cx="11045952" cy="0"/>
          </a:xfrm>
          <a:prstGeom prst="line">
            <a:avLst/>
          </a:prstGeom>
          <a:ln w="8890">
            <a:solidFill>
              <a:srgbClr val="2DE2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914400"/>
            <a:ext cx="7955279" cy="822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200" b="1">
                <a:solidFill>
                  <a:srgbClr val="F7FAFF"/>
                </a:solidFill>
                <a:latin typeface="Bahnschrift SemiBold"/>
              </a:rPr>
              <a:t>Stay curious.</a:t>
            </a:r>
          </a:p>
        </p:txBody>
      </p:sp>
      <p:sp>
        <p:nvSpPr>
          <p:cNvPr id="7" name="TextBox 6"/>
          <p:cNvSpPr txBox="1"/>
          <p:nvPr/>
        </p:nvSpPr>
        <p:spPr>
          <a:xfrm>
            <a:off x="640080" y="1874519"/>
            <a:ext cx="7955279" cy="822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200" b="1">
                <a:solidFill>
                  <a:srgbClr val="A778FF"/>
                </a:solidFill>
                <a:latin typeface="Bahnschrift SemiBold"/>
              </a:rPr>
              <a:t>Stay skeptical.</a:t>
            </a:r>
          </a:p>
        </p:txBody>
      </p:sp>
      <p:sp>
        <p:nvSpPr>
          <p:cNvPr id="8" name="TextBox 7"/>
          <p:cNvSpPr txBox="1"/>
          <p:nvPr/>
        </p:nvSpPr>
        <p:spPr>
          <a:xfrm>
            <a:off x="640080" y="2834640"/>
            <a:ext cx="7955279" cy="8229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5200" b="1">
                <a:solidFill>
                  <a:srgbClr val="FF6776"/>
                </a:solidFill>
                <a:latin typeface="Bahnschrift SemiBold"/>
              </a:rPr>
              <a:t>Build boldly.</a:t>
            </a:r>
          </a:p>
        </p:txBody>
      </p:sp>
      <p:sp>
        <p:nvSpPr>
          <p:cNvPr id="9" name="Rounded Rectangle 8"/>
          <p:cNvSpPr/>
          <p:nvPr/>
        </p:nvSpPr>
        <p:spPr>
          <a:xfrm>
            <a:off x="8001000" y="1051560"/>
            <a:ext cx="3429000" cy="4297680"/>
          </a:xfrm>
          <a:prstGeom prst="roundRect">
            <a:avLst/>
          </a:prstGeom>
          <a:solidFill>
            <a:srgbClr val="142442"/>
          </a:solidFill>
          <a:ln w="19050">
            <a:solidFill>
              <a:srgbClr val="2D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444752"/>
            <a:ext cx="2697480" cy="411480"/>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1">
                <a:solidFill>
                  <a:srgbClr val="2DE2E6"/>
                </a:solidFill>
                <a:latin typeface="Aptos"/>
              </a:rPr>
              <a:t>BEFORE YOU TRUST IT</a:t>
            </a:r>
          </a:p>
        </p:txBody>
      </p:sp>
      <p:sp>
        <p:nvSpPr>
          <p:cNvPr id="11" name="Oval 10"/>
          <p:cNvSpPr/>
          <p:nvPr/>
        </p:nvSpPr>
        <p:spPr>
          <a:xfrm>
            <a:off x="8366760" y="2176272"/>
            <a:ext cx="320040" cy="320040"/>
          </a:xfrm>
          <a:prstGeom prst="ellipse">
            <a:avLst/>
          </a:prstGeom>
          <a:solidFill>
            <a:srgbClr val="2D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51392" y="2075688"/>
            <a:ext cx="2103120" cy="411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Aptos"/>
              </a:rPr>
              <a:t>Check the source</a:t>
            </a:r>
          </a:p>
        </p:txBody>
      </p:sp>
      <p:sp>
        <p:nvSpPr>
          <p:cNvPr id="13" name="Oval 12"/>
          <p:cNvSpPr/>
          <p:nvPr/>
        </p:nvSpPr>
        <p:spPr>
          <a:xfrm>
            <a:off x="8366760" y="2889504"/>
            <a:ext cx="320040" cy="320040"/>
          </a:xfrm>
          <a:prstGeom prst="ellipse">
            <a:avLst/>
          </a:prstGeom>
          <a:solidFill>
            <a:srgbClr val="55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1392" y="2788920"/>
            <a:ext cx="2103120" cy="411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Aptos"/>
              </a:rPr>
              <a:t>Run the code</a:t>
            </a:r>
          </a:p>
        </p:txBody>
      </p:sp>
      <p:sp>
        <p:nvSpPr>
          <p:cNvPr id="15" name="Oval 14"/>
          <p:cNvSpPr/>
          <p:nvPr/>
        </p:nvSpPr>
        <p:spPr>
          <a:xfrm>
            <a:off x="8366760" y="3602736"/>
            <a:ext cx="320040" cy="320040"/>
          </a:xfrm>
          <a:prstGeom prst="ellipse">
            <a:avLst/>
          </a:prstGeom>
          <a:solidFill>
            <a:srgbClr val="A7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51392" y="3502152"/>
            <a:ext cx="2103120" cy="411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Aptos"/>
              </a:rPr>
              <a:t>Test the output</a:t>
            </a:r>
          </a:p>
        </p:txBody>
      </p:sp>
      <p:sp>
        <p:nvSpPr>
          <p:cNvPr id="17" name="Oval 16"/>
          <p:cNvSpPr/>
          <p:nvPr/>
        </p:nvSpPr>
        <p:spPr>
          <a:xfrm>
            <a:off x="8366760" y="4315968"/>
            <a:ext cx="320040" cy="320040"/>
          </a:xfrm>
          <a:prstGeom prst="ellipse">
            <a:avLst/>
          </a:prstGeom>
          <a:solidFill>
            <a:srgbClr val="FFC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51392" y="4215383"/>
            <a:ext cx="2103120" cy="411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F7FAFF"/>
                </a:solidFill>
                <a:latin typeface="Aptos"/>
              </a:rPr>
              <a:t>Own the decision</a:t>
            </a:r>
          </a:p>
        </p:txBody>
      </p:sp>
      <p:sp>
        <p:nvSpPr>
          <p:cNvPr id="19" name="TextBox 18"/>
          <p:cNvSpPr txBox="1"/>
          <p:nvPr/>
        </p:nvSpPr>
        <p:spPr>
          <a:xfrm>
            <a:off x="685800" y="5074920"/>
            <a:ext cx="4572000" cy="6858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500" b="1">
                <a:solidFill>
                  <a:srgbClr val="D7E2F2"/>
                </a:solidFill>
                <a:latin typeface="Bahnschrift SemiBold"/>
              </a:rPr>
              <a:t>Questions?</a:t>
            </a:r>
          </a:p>
        </p:txBody>
      </p:sp>
      <p:sp>
        <p:nvSpPr>
          <p:cNvPr id="20" name="TextBox 19"/>
          <p:cNvSpPr txBox="1"/>
          <p:nvPr/>
        </p:nvSpPr>
        <p:spPr>
          <a:xfrm>
            <a:off x="713232" y="6080760"/>
            <a:ext cx="566928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0">
                <a:solidFill>
                  <a:srgbClr val="8FA4C2"/>
                </a:solidFill>
                <a:latin typeface="Aptos"/>
              </a:rPr>
              <a:t>AI Foundations for FIRST Robotics students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Foundations: How Modern AI Systems Actually Work</dc:title>
  <dc:subject>AI and agentic tool foundations for FIRST Robotics students</dc:subject>
  <dc:creator>Matt Vevang</dc:creator>
  <cp:keywords>AI, LLM, context, tools, MCP, agents, FIRST Robotics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